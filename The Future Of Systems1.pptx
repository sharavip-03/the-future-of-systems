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handoutMasterIdLst>
    <p:handoutMasterId r:id="rId45"/>
  </p:handoutMasterIdLst>
  <p:sldIdLst>
    <p:sldId id="468" r:id="rId2"/>
    <p:sldId id="498" r:id="rId3"/>
    <p:sldId id="542" r:id="rId4"/>
    <p:sldId id="522" r:id="rId5"/>
    <p:sldId id="516" r:id="rId6"/>
    <p:sldId id="517" r:id="rId7"/>
    <p:sldId id="518" r:id="rId8"/>
    <p:sldId id="519" r:id="rId9"/>
    <p:sldId id="521" r:id="rId10"/>
    <p:sldId id="509" r:id="rId11"/>
    <p:sldId id="523" r:id="rId12"/>
    <p:sldId id="502" r:id="rId13"/>
    <p:sldId id="508" r:id="rId14"/>
    <p:sldId id="531" r:id="rId15"/>
    <p:sldId id="507" r:id="rId16"/>
    <p:sldId id="506" r:id="rId17"/>
    <p:sldId id="504" r:id="rId18"/>
    <p:sldId id="505" r:id="rId19"/>
    <p:sldId id="510" r:id="rId20"/>
    <p:sldId id="511" r:id="rId21"/>
    <p:sldId id="514" r:id="rId22"/>
    <p:sldId id="520" r:id="rId23"/>
    <p:sldId id="524" r:id="rId24"/>
    <p:sldId id="528" r:id="rId25"/>
    <p:sldId id="529" r:id="rId26"/>
    <p:sldId id="526" r:id="rId27"/>
    <p:sldId id="525" r:id="rId28"/>
    <p:sldId id="527" r:id="rId29"/>
    <p:sldId id="538" r:id="rId30"/>
    <p:sldId id="541" r:id="rId31"/>
    <p:sldId id="534" r:id="rId32"/>
    <p:sldId id="535" r:id="rId33"/>
    <p:sldId id="532" r:id="rId34"/>
    <p:sldId id="537" r:id="rId35"/>
    <p:sldId id="533" r:id="rId36"/>
    <p:sldId id="540" r:id="rId37"/>
    <p:sldId id="539" r:id="rId38"/>
    <p:sldId id="536" r:id="rId39"/>
    <p:sldId id="543" r:id="rId40"/>
    <p:sldId id="544" r:id="rId41"/>
    <p:sldId id="530" r:id="rId42"/>
    <p:sldId id="264" r:id="rId4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A900"/>
    <a:srgbClr val="FFF5EA"/>
    <a:srgbClr val="38AA00"/>
    <a:srgbClr val="766363"/>
    <a:srgbClr val="00324D"/>
    <a:srgbClr val="FF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D4D17D-E546-F3BF-6B1F-5D56E5886505}" v="21" dt="2024-11-22T12:41:52.0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999AFE6-721E-1D92-FFC0-72E02DBB97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A598C0A-ECF9-B897-80D5-1AE7ABA305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369B9F-131C-2846-AB8F-CEE154B4CAEB}" type="datetimeFigureOut">
              <a:rPr lang="es-CO" smtClean="0"/>
              <a:t>22/11/2024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88F308B-0102-A0B4-9A23-E807C735E8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E7CACDD-5D14-572A-2591-609B03F168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93070F-3F68-E043-9CC3-B53B4F2245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00459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0CB96-A603-FF42-AE46-F5F75F80A67B}" type="datetimeFigureOut">
              <a:rPr lang="es-CO" smtClean="0"/>
              <a:t>22/11/2024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6C58E-460D-4A4B-B0C2-1191B9D14F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1302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6C58E-460D-4A4B-B0C2-1191B9D14FCB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789272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6C58E-460D-4A4B-B0C2-1191B9D14FCB}" type="slidenum">
              <a:rPr lang="es-CO" smtClean="0"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85203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6C58E-460D-4A4B-B0C2-1191B9D14FCB}" type="slidenum">
              <a:rPr lang="es-CO" smtClean="0"/>
              <a:t>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253039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6C58E-460D-4A4B-B0C2-1191B9D14FCB}" type="slidenum">
              <a:rPr lang="es-CO" smtClean="0"/>
              <a:t>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23030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6C58E-460D-4A4B-B0C2-1191B9D14FCB}" type="slidenum">
              <a:rPr lang="es-CO" smtClean="0"/>
              <a:t>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698061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6C58E-460D-4A4B-B0C2-1191B9D14FCB}" type="slidenum">
              <a:rPr lang="es-CO" smtClean="0"/>
              <a:t>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770702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6C58E-460D-4A4B-B0C2-1191B9D14FCB}" type="slidenum">
              <a:rPr lang="es-CO" smtClean="0"/>
              <a:t>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071354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6C58E-460D-4A4B-B0C2-1191B9D14FCB}" type="slidenum">
              <a:rPr lang="es-CO" smtClean="0"/>
              <a:t>10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29988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6C58E-460D-4A4B-B0C2-1191B9D14FCB}" type="slidenum">
              <a:rPr lang="es-CO" smtClean="0"/>
              <a:t>11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97081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95260C-E8AD-B240-9481-5B2FE14A6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F4960B-AC04-294C-9B8A-B10830EF5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F720DD-BA8F-C443-A59E-F0EEAF843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22/11/2024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A1676A-B50F-4048-B9A0-67475225D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B408DD-191C-9940-B5DC-9B04378C8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945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17F6C-CDBB-234C-B00B-255C60E5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743F10-0075-0F47-A0C2-0071CB2B3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B4C6E2-1F45-C54F-A384-6BA60BB5E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22/11/2024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44B0E8-9C87-6C41-96F5-6419B5000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D08979-815A-D443-B424-FB031F975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42203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B3E04-413C-394A-94BD-6FD1D56E1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E8DEAC-948A-0F4A-9098-1EA5A30BE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0E9B39-9659-7747-851C-17A0C73C8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22/11/2024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90AE33-28EE-274E-8E15-02A147483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A1D99B-0619-1847-8509-03589920E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30376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0119BB-39AA-4B48-BB60-3EE344FF2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E8365F-8201-9D4B-85A4-E53E8819A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74364B-4945-0A4D-A279-35519E3F4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68BFB1-0C38-A141-AB7B-22CD10FF3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22/11/2024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F6516E-C104-3E4A-BC0F-DC137BD98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C08597-16B2-3B42-B59A-8815DD747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42547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4272C-3F8B-AF4A-82BE-E5BE9107D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B8DA00-E62A-A54E-BC50-AEBAAF251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E9F7D8-1A62-544F-A4E2-23A591854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1895FC1-5F27-B640-81B9-33366BECB5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00D0329-F1AE-FE44-A7B4-B16B429A0C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A80CE19-B065-6E4F-A207-999BBF94C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22/11/2024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99C46BF-4920-E443-B109-668969C5E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C417FDA-D0D0-AD4C-9F49-6FFEC4BC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6954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92FB5-1F0C-DE4B-8A05-DE0792814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AF7F14C-AA7D-3049-A400-4AC6EED53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22/11/2024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746EF7E-3912-BF43-BEB6-49819D4EE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BD767C9-209C-E54C-90E7-5176E4464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2851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7E92712-14E7-954C-8C23-33CD3DBD7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22/11/2024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D7BCE5F-F417-1247-9F26-F4B713468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B4FC7D-A6BA-0840-87AD-C71B1896B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41620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2BE35-F0B5-DA4A-BE9E-AACFF26FF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62C38B-5384-914E-829A-352266F70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9E434B-6E01-8148-AB00-051DDD402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3E8B8D-7A8A-794B-83A8-6920142BB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22/11/2024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2F34C9-1A26-0B41-8AE3-21E599CC5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82100B2-B969-0340-BEE2-F5FE0535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9714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ADFDE3-8BDA-6F45-A442-3C2913AE5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08B3433-597C-7E43-A088-A50E443431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0DB791-C948-D149-A74A-0C0DFCA0B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45138C-C370-6E42-902A-0DD2F4F61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22/11/2024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61561C-CA9F-0943-8A3E-60233368C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B72CA4-FB9F-FB4B-8159-119C3846C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69502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C07BF5-7EFA-9943-8CEE-7006AC89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EFF53FB-B16B-7444-99CF-B7533C11E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9133D3-834D-0942-99DE-29F15E8DC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22/11/2024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A02E1-CB07-7943-ACA2-6FF8387D3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2BC7A9-2B5F-1841-91C8-9460E3E55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1478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B25968F-984F-8BF4-4FF0-2432A9923E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27833" y="317431"/>
            <a:ext cx="811391" cy="79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8285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C11DF48-6A7C-3349-8650-2AA87E5D5E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D61C96-3D9F-F745-A812-5EC81CEB4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F61D3C-242D-F544-9883-3EEF515CE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22/11/2024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AB2518-6961-A143-A5EE-C5606EBA4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6FEAD3-1533-7A45-8011-C0C84A1DC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816216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Patrón de fondo&#10;&#10;Descripción generada automáticamente">
            <a:extLst>
              <a:ext uri="{FF2B5EF4-FFF2-40B4-BE49-F238E27FC236}">
                <a16:creationId xmlns:a16="http://schemas.microsoft.com/office/drawing/2014/main" id="{EDE1298D-A4F7-F1E4-F1B3-3D2F5117E0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9B39820-C822-5D71-439D-76D8E95C16E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54859" y="303050"/>
            <a:ext cx="855785" cy="833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3603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E09D5-8681-04F4-0AD1-7206C3FF5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EB62C8D-42BE-8DF8-DDA7-6DDCB238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22/11/2024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9F9D5C3-AD35-C818-D069-AB2D8EBBE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106A169-E84D-2DE1-E7CC-7058F9C00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56598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7DFF890D-F3AC-9928-32A3-F179DB21A0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946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6EFFBE1-33C9-1D48-A916-7535B68EC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778E02A-26CF-6C46-A280-67C4AA055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E7CDF9-2DDE-C04D-A9B9-78F138A1C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86248-06F7-A441-A47A-264EBD310E11}" type="datetimeFigureOut">
              <a:rPr lang="es-CO" smtClean="0"/>
              <a:t>22/11/2024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7570B4-267C-034E-B58B-04C03C9E55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41693D-7DB1-1144-97E3-85753EC9A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2609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2" r:id="rId11"/>
    <p:sldLayoutId id="2147483659" r:id="rId12"/>
    <p:sldLayoutId id="2147483663" r:id="rId13"/>
    <p:sldLayoutId id="2147483675" r:id="rId14"/>
    <p:sldLayoutId id="214748367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soysena-my.sharepoint.com/:u:/g/personal/sdduran00_soy_sena_edu_co/EWv21yZ_zidIh6KpO7_3ydMB5W4gMZIbAzfWABBCHdhcIg?e=OUD9re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forms/d/e/1FAIpQLSfjT8arooI34EkZaWKELd4ABYYvSCqv0u20yz5hEp5DYKXsRQ/viewform?usp=sharing" TargetMode="Externa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4.xml"/><Relationship Id="rId4" Type="http://schemas.openxmlformats.org/officeDocument/2006/relationships/hyperlink" Target="https://soysena-my.sharepoint.com/:w:/g/personal/lina_patriciar_soy_sena_edu_co/ER4Wpc1-EypMlW_-fxVhhpQBEsX6yfZu0RJJeZ9oqGzgVA?e=qCE8KT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soysena-my.sharepoint.com/:w:/g/personal/sdduran00_soy_sena_edu_co/ESis3yy9rcBMl617pfZ_XWcB5tV-k6MzrdmEWhU3w0UNlA?e=YNzhqN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soysena-my.sharepoint.com/:w:/g/personal/karen_calderon159_soy_sena_edu_co/EUW1HVyLkIZIpxiCkdinOHsBna7it2X7uIkfBAmJYzVifw?e=Ogaqk0" TargetMode="Externa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soysena-my.sharepoint.com/:w:/g/personal/karen_calderon159_soy_sena_edu_co/EUW1HVyLkIZIpxiCkdinOHsBna7it2X7uIkfBAmJYzVifw?e=Ogaqk0" TargetMode="Externa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soysena-my.sharepoint.com/:w:/g/personal/karen_calderon159_soy_sena_edu_co/EUW1HVyLkIZIpxiCkdinOHsBna7it2X7uIkfBAmJYzVifw?e=Ogaqk0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www.canva.com/design/DAF-7Ij_904/eD0Au_dldU9-C-pO1mPRJQ/edit?utm_content=DAF-7Ij_904&amp;utm_campaign=designshare&amp;utm_medium=link2&amp;utm_source=sharebutton" TargetMode="Externa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soysena-my.sharepoint.com/:w:/g/personal/sdduran00_soy_sena_edu_co/EfxBhV3wJ_tEtWBxBObnH4wBaSivGPHOEL3vwhyGKThANw?e=6eLY3f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Relationship Id="rId4" Type="http://schemas.openxmlformats.org/officeDocument/2006/relationships/hyperlink" Target="https://soysena-my.sharepoint.com/:w:/g/personal/karen_calderon159_soy_sena_edu_co/EWNZiIVaFwBIkJ2toLiAhOoB-ljBUMAyo4pseG7i6S7hKQ?e=bp2gSn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soysena-my.sharepoint.com/:w:/g/personal/karen_calderon159_soy_sena_edu_co/EWNZiIVaFwBIkJ2toLiAhOoB-ljBUMAyo4pseG7i6S7hKQ?e=bp2gSn" TargetMode="Externa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soysena-my.sharepoint.com/:w:/g/personal/sdduran00_soy_sena_edu_co/Ecp7kqxjpqVJk9rnwVuATtEBrgLu6gFBn5506vggpqc_9w?e=bZ1uhu" TargetMode="External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lucid.app/lucidchart/f77ed08d-96c1-449b-b750-2295db4ff72d/edit?viewport_loc=-524%2C89%2C4629%2C2129%2C.Q4MUjXso07N&amp;invitationId=inv_0c06357b-e158-4e59-9fd6-628a3b488fce" TargetMode="External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soysena-my.sharepoint.com/:w:/g/personal/sdduran00_soy_sena_edu_co/ETGqT4ZOl1xAhxQ9nKZCubkBuZER1cemYMZOhC0mPzA17Q?e=FtMbGf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hyperlink" Target="https://drive.google.com/file/d/1vk9lr_FhDKXnP3jAhOeFBZ9rzjj3O5sq/view?usp=sharing" TargetMode="External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hyperlink" Target="https://soysena-my.sharepoint.com/:f:/g/personal/lina_patriciar_soy_sena_edu_co/EuYnWNv9SK1GgA4UqvN1tZMBn9Erf0lJvkxUn4YHhKoGyg?e=FlCaVk" TargetMode="External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soysena-my.sharepoint.com/:x:/g/personal/lina_patriciar_soy_sena_edu_co/Eag7SalPe0dGpeIHJSqK5o4B9QZi6RCBiCu2xH-43QdbEw?e=vz0x1o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hyperlink" Target="https://soysena-my.sharepoint.com/:i:/g/personal/sdduran00_soy_sena_edu_co/Ebd04r_VUJ9KusEyWHtvD-cBnacUP7W5aF90BtALtuZCuQ?e=f2jmq0" TargetMode="External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soysena-my.sharepoint.com/:w:/g/personal/sdduran00_soy_sena_edu_co/ER_6kHnvJF9LlmgbEhM0XkgBkoNpWyjrtyIpScAGPpwN9A?e=YZpYRE" TargetMode="External"/><Relationship Id="rId2" Type="http://schemas.openxmlformats.org/officeDocument/2006/relationships/hyperlink" Target="https://soysena-my.sharepoint.com/:f:/g/personal/lina_patriciar_soy_sena_edu_co/Eg2bpMnxni5Ai9OMACdm7e8BVAdr6Jl2SnyATW2kJjBXZA?e=vPkVq7" TargetMode="External"/><Relationship Id="rId1" Type="http://schemas.openxmlformats.org/officeDocument/2006/relationships/slideLayout" Target="../slideLayouts/slideLayout14.xml"/><Relationship Id="rId6" Type="http://schemas.openxmlformats.org/officeDocument/2006/relationships/hyperlink" Target="https://soysena-my.sharepoint.com/:f:/g/personal/sdduran00_soy_sena_edu_co/EobQQe4uJYRAo_5SALbs0KYBWP3QMbfsKBt7GMxHDTEvyg?e=cqaLl5" TargetMode="External"/><Relationship Id="rId5" Type="http://schemas.openxmlformats.org/officeDocument/2006/relationships/image" Target="../media/image25.png"/><Relationship Id="rId4" Type="http://schemas.openxmlformats.org/officeDocument/2006/relationships/hyperlink" Target="https://soysena-my.sharepoint.com/:w:/g/personal/sdduran00_soy_sena_edu_co/EeBmlaisRM5FgO1jZhIjNrsBWvVbKw-SnqP1rxW5U7PW0g?e=YrooUo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soysena-my.sharepoint.com/:f:/g/personal/lina_patriciar_soy_sena_edu_co/EkZbirDciVVFuGgbLer5yOMBtPbWszo6PnpHDcVeSO6IqQ?e=JDFeLO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aravip-03/The-Future-Of-Systems/tree/Codigo-Con-Matriz-Crud-de-Cliente/boostrap" TargetMode="Externa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hyperlink" Target="https://github.com/Sharavip-03/The-Future-Of-Systems/tree/Codigo-Con-Matriz-Crud-de-Cliente" TargetMode="External"/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A4B7F0-F2D8-6E5B-A564-309DF1E1EE1F}"/>
              </a:ext>
            </a:extLst>
          </p:cNvPr>
          <p:cNvSpPr txBox="1"/>
          <p:nvPr/>
        </p:nvSpPr>
        <p:spPr>
          <a:xfrm>
            <a:off x="5467785" y="4972641"/>
            <a:ext cx="527304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Times New Roman"/>
                <a:ea typeface="Microsoft Sans Serif"/>
                <a:cs typeface="Calibri"/>
              </a:rPr>
              <a:t>Lina Patricia Rubio Rodriguez</a:t>
            </a:r>
          </a:p>
          <a:p>
            <a:r>
              <a:rPr lang="en-US" sz="2400">
                <a:latin typeface="Times New Roman"/>
                <a:ea typeface="Microsoft Sans Serif"/>
                <a:cs typeface="Calibri"/>
              </a:rPr>
              <a:t>Shara Daniela Duran Martinez 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0A6DE12-8A7F-1750-16BD-35BB5DD6781F}"/>
              </a:ext>
            </a:extLst>
          </p:cNvPr>
          <p:cNvSpPr txBox="1"/>
          <p:nvPr/>
        </p:nvSpPr>
        <p:spPr>
          <a:xfrm>
            <a:off x="2966758" y="2337283"/>
            <a:ext cx="6747833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D" sz="4800" b="1">
                <a:latin typeface="Times New Roman"/>
                <a:ea typeface="Calibri"/>
                <a:cs typeface="Calibri"/>
              </a:rPr>
              <a:t>The Future Of Systems</a:t>
            </a:r>
            <a:endParaRPr lang="en-ID" sz="4800" b="1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79616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18231615-9639-A304-26DF-E97CAAC6B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35" y="59606"/>
            <a:ext cx="10515600" cy="1325563"/>
          </a:xfrm>
        </p:spPr>
        <p:txBody>
          <a:bodyPr>
            <a:normAutofit/>
          </a:bodyPr>
          <a:lstStyle/>
          <a:p>
            <a:r>
              <a:rPr lang="es-ES" sz="5400">
                <a:solidFill>
                  <a:schemeClr val="bg1"/>
                </a:solidFill>
                <a:latin typeface="Times New Roman"/>
                <a:ea typeface="Calibri Light"/>
                <a:cs typeface="Calibri Light"/>
              </a:rPr>
              <a:t>Tabla De Contenido 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5F0BF55-0B17-43AC-2344-8B1505517853}"/>
              </a:ext>
            </a:extLst>
          </p:cNvPr>
          <p:cNvSpPr txBox="1"/>
          <p:nvPr/>
        </p:nvSpPr>
        <p:spPr>
          <a:xfrm>
            <a:off x="59202" y="1383716"/>
            <a:ext cx="5043314" cy="526297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514350" indent="-514350">
              <a:buAutoNum type="arabicPeriod"/>
            </a:pPr>
            <a:r>
              <a:rPr lang="es-CO" sz="2400" b="1">
                <a:latin typeface="Times New Roman"/>
                <a:cs typeface="Times New Roman"/>
              </a:rPr>
              <a:t>EMPRESA</a:t>
            </a:r>
          </a:p>
          <a:p>
            <a:r>
              <a:rPr lang="es-CO" sz="2400">
                <a:latin typeface="Times New Roman"/>
                <a:cs typeface="Times New Roman"/>
              </a:rPr>
              <a:t>   1.1 Nombre de la empresa.</a:t>
            </a:r>
            <a:endParaRPr lang="es-CO" sz="2400">
              <a:latin typeface="Calibri" panose="020F0502020204030204"/>
              <a:ea typeface="Calibri"/>
              <a:cs typeface="Calibri" panose="020F0502020204030204"/>
            </a:endParaRPr>
          </a:p>
          <a:p>
            <a:r>
              <a:rPr lang="es-CO" sz="2400">
                <a:latin typeface="Times New Roman"/>
                <a:ea typeface="Calibri" panose="020F0502020204030204"/>
                <a:cs typeface="Times New Roman"/>
              </a:rPr>
              <a:t>   1.2 Misión y Visión.</a:t>
            </a:r>
          </a:p>
          <a:p>
            <a:r>
              <a:rPr lang="es-CO" sz="2400">
                <a:latin typeface="Times New Roman"/>
                <a:cs typeface="Times New Roman"/>
              </a:rPr>
              <a:t>   1.3 Logo.</a:t>
            </a:r>
          </a:p>
          <a:p>
            <a:r>
              <a:rPr lang="es-CO" sz="2400">
                <a:latin typeface="Times New Roman"/>
                <a:cs typeface="Times New Roman"/>
              </a:rPr>
              <a:t>   1.4 Eslogan.</a:t>
            </a:r>
          </a:p>
          <a:p>
            <a:r>
              <a:rPr lang="es-CO" sz="2400" b="1">
                <a:latin typeface="Times New Roman"/>
                <a:cs typeface="Times New Roman"/>
              </a:rPr>
              <a:t>2.</a:t>
            </a:r>
            <a:r>
              <a:rPr lang="es-CO" sz="2400">
                <a:latin typeface="Times New Roman"/>
                <a:cs typeface="Times New Roman"/>
              </a:rPr>
              <a:t>   </a:t>
            </a:r>
            <a:r>
              <a:rPr lang="es-CO" sz="2400" b="1">
                <a:latin typeface="Times New Roman"/>
                <a:cs typeface="Times New Roman"/>
              </a:rPr>
              <a:t>PROYECTO</a:t>
            </a:r>
          </a:p>
          <a:p>
            <a:r>
              <a:rPr lang="es-CO" sz="2400" b="1">
                <a:latin typeface="Times New Roman"/>
                <a:cs typeface="Times New Roman"/>
              </a:rPr>
              <a:t>   </a:t>
            </a:r>
            <a:r>
              <a:rPr lang="es-CO" sz="2400">
                <a:latin typeface="Times New Roman"/>
                <a:cs typeface="Times New Roman"/>
              </a:rPr>
              <a:t>2.1</a:t>
            </a:r>
            <a:r>
              <a:rPr lang="es-CO" sz="2400" b="1">
                <a:latin typeface="Times New Roman"/>
                <a:cs typeface="Times New Roman"/>
              </a:rPr>
              <a:t> </a:t>
            </a:r>
            <a:r>
              <a:rPr lang="es-CO" sz="2400">
                <a:latin typeface="Times New Roman"/>
                <a:cs typeface="Times New Roman"/>
              </a:rPr>
              <a:t>Cliente</a:t>
            </a:r>
          </a:p>
          <a:p>
            <a:r>
              <a:rPr lang="es-CO" sz="2400">
                <a:latin typeface="Times New Roman"/>
                <a:cs typeface="Times New Roman"/>
              </a:rPr>
              <a:t>   2.2 Nombre del proyecto</a:t>
            </a:r>
            <a:endParaRPr lang="en-US" sz="2400">
              <a:latin typeface="Times New Roman"/>
              <a:cs typeface="Times New Roman"/>
            </a:endParaRPr>
          </a:p>
          <a:p>
            <a:r>
              <a:rPr lang="es-CO" sz="2400">
                <a:latin typeface="Times New Roman"/>
                <a:cs typeface="Times New Roman"/>
              </a:rPr>
              <a:t>   2.3 Objetivo General</a:t>
            </a:r>
            <a:endParaRPr lang="en-US" sz="2400">
              <a:latin typeface="Times New Roman"/>
              <a:cs typeface="Times New Roman"/>
            </a:endParaRPr>
          </a:p>
          <a:p>
            <a:r>
              <a:rPr lang="es-CO" sz="2400">
                <a:latin typeface="Times New Roman"/>
                <a:cs typeface="Times New Roman"/>
              </a:rPr>
              <a:t>   2.4 Objetivos específicos</a:t>
            </a:r>
            <a:endParaRPr lang="en-US" sz="2400">
              <a:latin typeface="Times New Roman"/>
              <a:cs typeface="Times New Roman"/>
            </a:endParaRPr>
          </a:p>
          <a:p>
            <a:r>
              <a:rPr lang="es-CO" sz="2400">
                <a:latin typeface="Times New Roman"/>
                <a:cs typeface="Times New Roman"/>
              </a:rPr>
              <a:t>   2.5 Planteamiento del problema</a:t>
            </a:r>
            <a:endParaRPr lang="en-US" sz="2400">
              <a:latin typeface="Times New Roman"/>
              <a:cs typeface="Times New Roman"/>
            </a:endParaRPr>
          </a:p>
          <a:p>
            <a:r>
              <a:rPr lang="es-CO" sz="2400">
                <a:latin typeface="Times New Roman"/>
                <a:cs typeface="Times New Roman"/>
              </a:rPr>
              <a:t>   2.6 Pregunta problema</a:t>
            </a:r>
            <a:endParaRPr lang="en-US" sz="2400">
              <a:latin typeface="Times New Roman"/>
              <a:cs typeface="Times New Roman"/>
            </a:endParaRPr>
          </a:p>
          <a:p>
            <a:r>
              <a:rPr lang="es-CO" sz="2400">
                <a:latin typeface="Times New Roman"/>
                <a:cs typeface="Times New Roman"/>
              </a:rPr>
              <a:t>   2.7 Alcance del proyecto</a:t>
            </a:r>
            <a:endParaRPr lang="en-US" sz="2400">
              <a:latin typeface="Times New Roman"/>
              <a:cs typeface="Times New Roman"/>
            </a:endParaRPr>
          </a:p>
          <a:p>
            <a:r>
              <a:rPr lang="es-CO" sz="2400">
                <a:latin typeface="Times New Roman"/>
                <a:cs typeface="Times New Roman"/>
              </a:rPr>
              <a:t>   2.8 Justificación </a:t>
            </a:r>
            <a:endParaRPr lang="en-US" sz="2400">
              <a:latin typeface="Times New Roman"/>
              <a:cs typeface="Times New Roman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8A1E1D4-3240-5D0F-3C79-B4A42A5D016A}"/>
              </a:ext>
            </a:extLst>
          </p:cNvPr>
          <p:cNvSpPr txBox="1"/>
          <p:nvPr/>
        </p:nvSpPr>
        <p:spPr>
          <a:xfrm>
            <a:off x="5334826" y="1384971"/>
            <a:ext cx="7259201" cy="526297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2400">
                <a:latin typeface="Times New Roman"/>
                <a:cs typeface="Times New Roman"/>
              </a:rPr>
              <a:t>2.9 Mapa de procesos</a:t>
            </a:r>
            <a:endParaRPr lang="es-ES" sz="2400">
              <a:ea typeface="Calibri"/>
              <a:cs typeface="Calibri"/>
            </a:endParaRPr>
          </a:p>
          <a:p>
            <a:r>
              <a:rPr lang="es-CO" sz="2400">
                <a:latin typeface="Times New Roman"/>
                <a:cs typeface="Times New Roman"/>
              </a:rPr>
              <a:t>2.10 BPMN</a:t>
            </a:r>
            <a:endParaRPr lang="en-US" sz="2400">
              <a:latin typeface="Times New Roman"/>
              <a:cs typeface="Times New Roman"/>
            </a:endParaRPr>
          </a:p>
          <a:p>
            <a:r>
              <a:rPr lang="es-CO" sz="2400">
                <a:latin typeface="Times New Roman"/>
                <a:cs typeface="Times New Roman"/>
              </a:rPr>
              <a:t>2.11 Técnicas de recolección de información</a:t>
            </a:r>
            <a:endParaRPr lang="en-US" sz="2400">
              <a:latin typeface="Times New Roman"/>
              <a:cs typeface="Times New Roman"/>
            </a:endParaRPr>
          </a:p>
          <a:p>
            <a:r>
              <a:rPr lang="es-CO" sz="2400">
                <a:latin typeface="Times New Roman"/>
                <a:cs typeface="Times New Roman"/>
              </a:rPr>
              <a:t>2.12 Requerimientos funcionales </a:t>
            </a:r>
            <a:endParaRPr lang="en-US" sz="2400">
              <a:latin typeface="Times New Roman"/>
              <a:cs typeface="Times New Roman"/>
            </a:endParaRPr>
          </a:p>
          <a:p>
            <a:r>
              <a:rPr lang="es-CO" sz="2400">
                <a:latin typeface="Times New Roman"/>
                <a:cs typeface="Times New Roman"/>
              </a:rPr>
              <a:t>2.13 Requerimientos no funcionales</a:t>
            </a:r>
            <a:endParaRPr lang="es-CO" sz="2400">
              <a:latin typeface="Times New Roman"/>
              <a:ea typeface="Calibri" panose="020F0502020204030204"/>
              <a:cs typeface="Times New Roman"/>
            </a:endParaRPr>
          </a:p>
          <a:p>
            <a:r>
              <a:rPr lang="es-CO" sz="2400">
                <a:solidFill>
                  <a:srgbClr val="000000"/>
                </a:solidFill>
                <a:latin typeface="Times New Roman"/>
                <a:cs typeface="Times New Roman"/>
              </a:rPr>
              <a:t>2.14 Mapa mental de la página web</a:t>
            </a:r>
            <a:endParaRPr lang="es-CO" sz="2400">
              <a:solidFill>
                <a:srgbClr val="000000"/>
              </a:solidFill>
              <a:latin typeface="Calibri" panose="020F0502020204030204"/>
              <a:cs typeface="Calibri" panose="020F0502020204030204"/>
            </a:endParaRPr>
          </a:p>
          <a:p>
            <a:r>
              <a:rPr lang="es-CO" sz="2400">
                <a:latin typeface="Times New Roman"/>
                <a:cs typeface="Times New Roman"/>
              </a:rPr>
              <a:t>2.15 Mockups</a:t>
            </a:r>
          </a:p>
          <a:p>
            <a:r>
              <a:rPr lang="es-CO" sz="2400">
                <a:latin typeface="Times New Roman"/>
                <a:cs typeface="Times New Roman"/>
              </a:rPr>
              <a:t>2.16 Ficha Técnica</a:t>
            </a:r>
          </a:p>
          <a:p>
            <a:r>
              <a:rPr lang="es-CO" sz="2400">
                <a:latin typeface="Times New Roman"/>
                <a:cs typeface="Times New Roman"/>
              </a:rPr>
              <a:t>2.17 Propuesta Técnica</a:t>
            </a:r>
          </a:p>
          <a:p>
            <a:r>
              <a:rPr lang="es-CO" sz="2400">
                <a:latin typeface="Times New Roman"/>
                <a:cs typeface="Times New Roman"/>
              </a:rPr>
              <a:t>2.18 Diagrama Casos de Uso</a:t>
            </a:r>
          </a:p>
          <a:p>
            <a:r>
              <a:rPr lang="es-CO" sz="2400">
                <a:latin typeface="Times New Roman"/>
                <a:cs typeface="Times New Roman"/>
              </a:rPr>
              <a:t>2.19 Especificación Casos de Uso</a:t>
            </a:r>
          </a:p>
          <a:p>
            <a:r>
              <a:rPr lang="es-CO" sz="2400">
                <a:latin typeface="Times New Roman"/>
                <a:cs typeface="Times New Roman"/>
              </a:rPr>
              <a:t>2.20 Modelo Entidad Relación</a:t>
            </a:r>
          </a:p>
          <a:p>
            <a:r>
              <a:rPr lang="es-CO" sz="2400">
                <a:latin typeface="Times New Roman"/>
                <a:cs typeface="Times New Roman"/>
              </a:rPr>
              <a:t>2.21 Modelo Relacional</a:t>
            </a:r>
          </a:p>
          <a:p>
            <a:r>
              <a:rPr lang="es-CO" sz="2400">
                <a:latin typeface="Times New Roman"/>
                <a:cs typeface="Times New Roman"/>
              </a:rPr>
              <a:t>2.22 Normalización</a:t>
            </a:r>
          </a:p>
        </p:txBody>
      </p:sp>
    </p:spTree>
    <p:extLst>
      <p:ext uri="{BB962C8B-B14F-4D97-AF65-F5344CB8AC3E}">
        <p14:creationId xmlns:p14="http://schemas.microsoft.com/office/powerpoint/2010/main" val="2099732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18231615-9639-A304-26DF-E97CAAC6B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35" y="59606"/>
            <a:ext cx="10515600" cy="1325563"/>
          </a:xfrm>
        </p:spPr>
        <p:txBody>
          <a:bodyPr>
            <a:normAutofit/>
          </a:bodyPr>
          <a:lstStyle/>
          <a:p>
            <a:r>
              <a:rPr lang="es-ES" sz="5400">
                <a:solidFill>
                  <a:schemeClr val="bg1"/>
                </a:solidFill>
                <a:latin typeface="Times New Roman"/>
                <a:ea typeface="Calibri Light"/>
                <a:cs typeface="Calibri Light"/>
              </a:rPr>
              <a:t>Tabla De Contenido 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8A1E1D4-3240-5D0F-3C79-B4A42A5D016A}"/>
              </a:ext>
            </a:extLst>
          </p:cNvPr>
          <p:cNvSpPr txBox="1"/>
          <p:nvPr/>
        </p:nvSpPr>
        <p:spPr>
          <a:xfrm>
            <a:off x="193621" y="1605308"/>
            <a:ext cx="6666535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2400">
                <a:latin typeface="Times New Roman"/>
                <a:cs typeface="Times New Roman"/>
              </a:rPr>
              <a:t>2.23 Diagrama de Clases UML</a:t>
            </a:r>
            <a:endParaRPr lang="es-ES"/>
          </a:p>
          <a:p>
            <a:r>
              <a:rPr lang="es-CO" sz="2400">
                <a:latin typeface="Times New Roman"/>
                <a:cs typeface="Times New Roman"/>
              </a:rPr>
              <a:t>2.24 Base de datos</a:t>
            </a:r>
            <a:endParaRPr lang="es-CO"/>
          </a:p>
          <a:p>
            <a:r>
              <a:rPr lang="es-CO" sz="2400">
                <a:latin typeface="Times New Roman"/>
                <a:cs typeface="Times New Roman"/>
              </a:rPr>
              <a:t>2.25 Diccionario Base de Datos</a:t>
            </a:r>
          </a:p>
          <a:p>
            <a:r>
              <a:rPr lang="es-CO" sz="2400">
                <a:latin typeface="Times New Roman"/>
                <a:cs typeface="Times New Roman"/>
              </a:rPr>
              <a:t>2.26 Diagrama de Despliegue </a:t>
            </a:r>
          </a:p>
          <a:p>
            <a:r>
              <a:rPr lang="es-CO" sz="2400">
                <a:latin typeface="Times New Roman"/>
                <a:cs typeface="Times New Roman"/>
              </a:rPr>
              <a:t>2.27 Mockups Navegable</a:t>
            </a:r>
          </a:p>
          <a:p>
            <a:r>
              <a:rPr lang="es-CO" sz="2400">
                <a:latin typeface="Times New Roman"/>
                <a:cs typeface="Times New Roman"/>
              </a:rPr>
              <a:t>2.28 Repositorio</a:t>
            </a:r>
          </a:p>
          <a:p>
            <a:endParaRPr lang="es-CO" sz="24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36829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A9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4642D046-C74B-000B-CDC3-550205B20637}"/>
              </a:ext>
            </a:extLst>
          </p:cNvPr>
          <p:cNvSpPr txBox="1"/>
          <p:nvPr/>
        </p:nvSpPr>
        <p:spPr>
          <a:xfrm>
            <a:off x="3322699" y="2732921"/>
            <a:ext cx="7133617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143000" indent="-1143000">
              <a:buAutoNum type="arabicPeriod"/>
            </a:pPr>
            <a:r>
              <a:rPr lang="es-ES" sz="7200" b="1">
                <a:solidFill>
                  <a:schemeClr val="bg1"/>
                </a:solidFill>
                <a:cs typeface="Calibri"/>
              </a:rPr>
              <a:t>EMPRESA</a:t>
            </a:r>
          </a:p>
        </p:txBody>
      </p:sp>
      <p:pic>
        <p:nvPicPr>
          <p:cNvPr id="4" name="Imagen 3" descr="Logotipo, Icono&#10;&#10;Descripción generada automáticamente">
            <a:extLst>
              <a:ext uri="{FF2B5EF4-FFF2-40B4-BE49-F238E27FC236}">
                <a16:creationId xmlns:a16="http://schemas.microsoft.com/office/drawing/2014/main" id="{ECA3D8F2-B603-96C5-035E-3C419A966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6080" y="936324"/>
            <a:ext cx="1736067" cy="172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083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18231615-9639-A304-26DF-E97CAAC6B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35" y="59606"/>
            <a:ext cx="10515600" cy="1325563"/>
          </a:xfrm>
        </p:spPr>
        <p:txBody>
          <a:bodyPr>
            <a:normAutofit/>
          </a:bodyPr>
          <a:lstStyle/>
          <a:p>
            <a:r>
              <a:rPr lang="es-ES" sz="5400">
                <a:solidFill>
                  <a:schemeClr val="bg1"/>
                </a:solidFill>
                <a:latin typeface="Times New Roman"/>
                <a:ea typeface="Calibri Light"/>
                <a:cs typeface="Calibri Light"/>
              </a:rPr>
              <a:t>1.1 Nombre de la empresa</a:t>
            </a:r>
            <a:endParaRPr lang="es-ES">
              <a:solidFill>
                <a:schemeClr val="bg1"/>
              </a:solidFill>
              <a:cs typeface="Calibri Light" panose="020F0302020204030204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236981B-FAF3-954B-BB60-074179A857E3}"/>
              </a:ext>
            </a:extLst>
          </p:cNvPr>
          <p:cNvSpPr txBox="1"/>
          <p:nvPr/>
        </p:nvSpPr>
        <p:spPr>
          <a:xfrm>
            <a:off x="677334" y="3312584"/>
            <a:ext cx="11133665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s-ES" sz="96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The</a:t>
            </a:r>
            <a:r>
              <a:rPr lang="es-ES" sz="960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 future </a:t>
            </a:r>
            <a:r>
              <a:rPr lang="es-ES" sz="96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of</a:t>
            </a:r>
            <a:r>
              <a:rPr lang="es-ES" sz="960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 </a:t>
            </a:r>
            <a:r>
              <a:rPr lang="es-ES" sz="96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systems</a:t>
            </a:r>
            <a:endParaRPr lang="es-ES" sz="9600" err="1">
              <a:latin typeface="Times New Roman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85053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18231615-9639-A304-26DF-E97CAAC6B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35" y="59606"/>
            <a:ext cx="10515600" cy="1325563"/>
          </a:xfrm>
        </p:spPr>
        <p:txBody>
          <a:bodyPr>
            <a:normAutofit/>
          </a:bodyPr>
          <a:lstStyle/>
          <a:p>
            <a:r>
              <a:rPr lang="es-ES" sz="5400">
                <a:solidFill>
                  <a:schemeClr val="bg1"/>
                </a:solidFill>
                <a:latin typeface="Times New Roman"/>
                <a:ea typeface="Calibri Light"/>
                <a:cs typeface="Calibri Light"/>
              </a:rPr>
              <a:t>1.2 Misión y visión.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99C88B6-3B0F-34BA-F30F-913D5912A90F}"/>
              </a:ext>
            </a:extLst>
          </p:cNvPr>
          <p:cNvSpPr txBox="1"/>
          <p:nvPr/>
        </p:nvSpPr>
        <p:spPr>
          <a:xfrm>
            <a:off x="905373" y="2539999"/>
            <a:ext cx="4376307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800">
                <a:solidFill>
                  <a:srgbClr val="000000"/>
                </a:solidFill>
                <a:ea typeface="+mn-lt"/>
                <a:cs typeface="+mn-lt"/>
              </a:rPr>
              <a:t>Desarrollar aplicativos webs funcionales que sean útiles, que contengan la información clara, necesaria y adecuada para todo tipo de público para que nos podamos expandir a un mercado extenso de aplicativos webs.</a:t>
            </a:r>
            <a:endParaRPr lang="es-ES" sz="2800">
              <a:cs typeface="Calibri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276B65F-1CBE-32AE-CD2B-529E4DED510A}"/>
              </a:ext>
            </a:extLst>
          </p:cNvPr>
          <p:cNvSpPr txBox="1"/>
          <p:nvPr/>
        </p:nvSpPr>
        <p:spPr>
          <a:xfrm>
            <a:off x="6822256" y="2540000"/>
            <a:ext cx="5377729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800">
                <a:solidFill>
                  <a:srgbClr val="000000"/>
                </a:solidFill>
                <a:ea typeface="+mn-lt"/>
                <a:cs typeface="+mn-lt"/>
              </a:rPr>
              <a:t>La empresa “</a:t>
            </a:r>
            <a:r>
              <a:rPr lang="es-ES" sz="2800" err="1">
                <a:solidFill>
                  <a:srgbClr val="000000"/>
                </a:solidFill>
                <a:ea typeface="+mn-lt"/>
                <a:cs typeface="+mn-lt"/>
              </a:rPr>
              <a:t>The</a:t>
            </a:r>
            <a:r>
              <a:rPr lang="es-ES" sz="2800">
                <a:solidFill>
                  <a:srgbClr val="000000"/>
                </a:solidFill>
                <a:ea typeface="+mn-lt"/>
                <a:cs typeface="+mn-lt"/>
              </a:rPr>
              <a:t> Future </a:t>
            </a:r>
            <a:r>
              <a:rPr lang="es-ES" sz="2800" err="1">
                <a:solidFill>
                  <a:srgbClr val="000000"/>
                </a:solidFill>
                <a:ea typeface="+mn-lt"/>
                <a:cs typeface="+mn-lt"/>
              </a:rPr>
              <a:t>Of</a:t>
            </a:r>
            <a:r>
              <a:rPr lang="es-ES" sz="28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s-ES" sz="2800" err="1">
                <a:solidFill>
                  <a:srgbClr val="000000"/>
                </a:solidFill>
                <a:ea typeface="+mn-lt"/>
                <a:cs typeface="+mn-lt"/>
              </a:rPr>
              <a:t>Systems</a:t>
            </a:r>
            <a:r>
              <a:rPr lang="es-ES" sz="2800">
                <a:solidFill>
                  <a:srgbClr val="000000"/>
                </a:solidFill>
                <a:ea typeface="+mn-lt"/>
                <a:cs typeface="+mn-lt"/>
              </a:rPr>
              <a:t>” tiene como objetivo en 10 años ser una empresa reconocida nacional e internacionalmente teniendo buenos resultados y reseñas positivas de clientes anteriores, también poder brindar una oportunidad laboral para todo ciudadano.</a:t>
            </a:r>
            <a:endParaRPr lang="es-ES" sz="2800">
              <a:cs typeface="Calibri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DC49F1D-F631-8176-8AC0-AE4CC5E7F399}"/>
              </a:ext>
            </a:extLst>
          </p:cNvPr>
          <p:cNvSpPr txBox="1"/>
          <p:nvPr/>
        </p:nvSpPr>
        <p:spPr>
          <a:xfrm>
            <a:off x="2370666" y="1979084"/>
            <a:ext cx="130414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2800" b="1">
                <a:cs typeface="Calibri"/>
              </a:rPr>
              <a:t>Misión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CBA7E50-4DA5-A45E-DA0F-007965688369}"/>
              </a:ext>
            </a:extLst>
          </p:cNvPr>
          <p:cNvSpPr txBox="1"/>
          <p:nvPr/>
        </p:nvSpPr>
        <p:spPr>
          <a:xfrm>
            <a:off x="8297332" y="1979083"/>
            <a:ext cx="111125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2800" b="1">
                <a:cs typeface="Calibri"/>
              </a:rPr>
              <a:t>Visión</a:t>
            </a:r>
          </a:p>
        </p:txBody>
      </p:sp>
    </p:spTree>
    <p:extLst>
      <p:ext uri="{BB962C8B-B14F-4D97-AF65-F5344CB8AC3E}">
        <p14:creationId xmlns:p14="http://schemas.microsoft.com/office/powerpoint/2010/main" val="3239632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18231615-9639-A304-26DF-E97CAAC6B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35" y="59606"/>
            <a:ext cx="10515600" cy="1325563"/>
          </a:xfrm>
        </p:spPr>
        <p:txBody>
          <a:bodyPr>
            <a:normAutofit/>
          </a:bodyPr>
          <a:lstStyle/>
          <a:p>
            <a:r>
              <a:rPr lang="es-ES" sz="5400">
                <a:solidFill>
                  <a:schemeClr val="bg1"/>
                </a:solidFill>
                <a:latin typeface="Times New Roman"/>
                <a:ea typeface="Calibri Light"/>
                <a:cs typeface="Calibri Light"/>
              </a:rPr>
              <a:t>1.3 Logo.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5A0641F-1FE1-4B76-482E-21CECBD46C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1713" y="1681692"/>
            <a:ext cx="4791075" cy="474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781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18231615-9639-A304-26DF-E97CAAC6B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35" y="59606"/>
            <a:ext cx="10515600" cy="1325563"/>
          </a:xfrm>
        </p:spPr>
        <p:txBody>
          <a:bodyPr>
            <a:normAutofit/>
          </a:bodyPr>
          <a:lstStyle/>
          <a:p>
            <a:r>
              <a:rPr lang="es-ES" sz="5400">
                <a:solidFill>
                  <a:schemeClr val="bg1"/>
                </a:solidFill>
                <a:latin typeface="Times New Roman"/>
                <a:ea typeface="Calibri Light"/>
                <a:cs typeface="Calibri Light"/>
              </a:rPr>
              <a:t>1.4 Eslogan.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1C2C6E7-9E10-4F07-47F3-D7999F5132B4}"/>
              </a:ext>
            </a:extLst>
          </p:cNvPr>
          <p:cNvSpPr txBox="1"/>
          <p:nvPr/>
        </p:nvSpPr>
        <p:spPr>
          <a:xfrm>
            <a:off x="2849912" y="2758855"/>
            <a:ext cx="6474203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6000"/>
              <a:t>“El futuro de tu empresa está en nuestras manos”</a:t>
            </a:r>
          </a:p>
        </p:txBody>
      </p:sp>
    </p:spTree>
    <p:extLst>
      <p:ext uri="{BB962C8B-B14F-4D97-AF65-F5344CB8AC3E}">
        <p14:creationId xmlns:p14="http://schemas.microsoft.com/office/powerpoint/2010/main" val="3309352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A9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4642D046-C74B-000B-CDC3-550205B20637}"/>
              </a:ext>
            </a:extLst>
          </p:cNvPr>
          <p:cNvSpPr txBox="1"/>
          <p:nvPr/>
        </p:nvSpPr>
        <p:spPr>
          <a:xfrm>
            <a:off x="3466473" y="2747298"/>
            <a:ext cx="7133617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7200" b="1">
                <a:solidFill>
                  <a:schemeClr val="bg1"/>
                </a:solidFill>
                <a:cs typeface="Calibri"/>
              </a:rPr>
              <a:t>2. PROYECTO</a:t>
            </a:r>
          </a:p>
        </p:txBody>
      </p:sp>
      <p:pic>
        <p:nvPicPr>
          <p:cNvPr id="4" name="Imagen 3" descr="Logotipo, Icono&#10;&#10;Descripción generada automáticamente">
            <a:extLst>
              <a:ext uri="{FF2B5EF4-FFF2-40B4-BE49-F238E27FC236}">
                <a16:creationId xmlns:a16="http://schemas.microsoft.com/office/drawing/2014/main" id="{ECA3D8F2-B603-96C5-035E-3C419A966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6080" y="936324"/>
            <a:ext cx="1736067" cy="172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3023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66D04A5A-19A9-0ACE-6D0F-5E02EDC9D1DE}"/>
              </a:ext>
            </a:extLst>
          </p:cNvPr>
          <p:cNvSpPr txBox="1"/>
          <p:nvPr/>
        </p:nvSpPr>
        <p:spPr>
          <a:xfrm>
            <a:off x="1985382" y="1811728"/>
            <a:ext cx="8206856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CO" sz="7200">
                <a:latin typeface="Times New Roman"/>
                <a:cs typeface="Times New Roman"/>
              </a:rPr>
              <a:t>El Escondite Animal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12E6F1CF-C64D-CB82-1478-686F9F9BAF5F}"/>
              </a:ext>
            </a:extLst>
          </p:cNvPr>
          <p:cNvCxnSpPr>
            <a:cxnSpLocks/>
          </p:cNvCxnSpPr>
          <p:nvPr/>
        </p:nvCxnSpPr>
        <p:spPr>
          <a:xfrm>
            <a:off x="5227899" y="3321934"/>
            <a:ext cx="1736203" cy="0"/>
          </a:xfrm>
          <a:prstGeom prst="line">
            <a:avLst/>
          </a:prstGeom>
          <a:ln>
            <a:solidFill>
              <a:srgbClr val="38A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9896E8B4-453C-7E26-D038-59933D4B744F}"/>
              </a:ext>
            </a:extLst>
          </p:cNvPr>
          <p:cNvSpPr txBox="1"/>
          <p:nvPr/>
        </p:nvSpPr>
        <p:spPr>
          <a:xfrm>
            <a:off x="4168816" y="3463724"/>
            <a:ext cx="385436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CO" sz="1600">
                <a:latin typeface="Work Sans Light"/>
              </a:rPr>
              <a:t>Tienda de Mascotas.</a:t>
            </a:r>
          </a:p>
          <a:p>
            <a:pPr algn="ctr"/>
            <a:r>
              <a:rPr lang="es-CO" sz="1600">
                <a:latin typeface="Work Sans Light"/>
              </a:rPr>
              <a:t>Dueña: Paola Sánchez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18231615-9639-A304-26DF-E97CAAC6B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9" y="174625"/>
            <a:ext cx="10515600" cy="1325563"/>
          </a:xfrm>
        </p:spPr>
        <p:txBody>
          <a:bodyPr>
            <a:normAutofit/>
          </a:bodyPr>
          <a:lstStyle/>
          <a:p>
            <a:r>
              <a:rPr lang="es-ES" sz="5400">
                <a:solidFill>
                  <a:schemeClr val="bg1"/>
                </a:solidFill>
                <a:latin typeface="Times New Roman"/>
                <a:ea typeface="Calibri Light"/>
                <a:cs typeface="Calibri Light"/>
              </a:rPr>
              <a:t>  2.1 Cliente</a:t>
            </a:r>
          </a:p>
        </p:txBody>
      </p:sp>
      <p:pic>
        <p:nvPicPr>
          <p:cNvPr id="5" name="Imagen 4" descr="Imagen que contiene Texto&#10;&#10;Descripción generada automáticamente">
            <a:extLst>
              <a:ext uri="{FF2B5EF4-FFF2-40B4-BE49-F238E27FC236}">
                <a16:creationId xmlns:a16="http://schemas.microsoft.com/office/drawing/2014/main" id="{46F74091-19C5-34A2-C6CF-1865280AFD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2488" y="4053417"/>
            <a:ext cx="3163359" cy="2719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061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66D04A5A-19A9-0ACE-6D0F-5E02EDC9D1DE}"/>
              </a:ext>
            </a:extLst>
          </p:cNvPr>
          <p:cNvSpPr txBox="1"/>
          <p:nvPr/>
        </p:nvSpPr>
        <p:spPr>
          <a:xfrm>
            <a:off x="1525306" y="2444332"/>
            <a:ext cx="9256403" cy="30469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4000" b="1">
                <a:latin typeface="Times New Roman"/>
                <a:cs typeface="Times New Roman"/>
              </a:rPr>
              <a:t>Sistema de Gestión de Productos e inventario para la Tienda "El Escondite Animal"</a:t>
            </a:r>
            <a:endParaRPr lang="es-CO" sz="4000">
              <a:latin typeface="Times New Roman"/>
              <a:cs typeface="Times New Roman"/>
            </a:endParaRPr>
          </a:p>
          <a:p>
            <a:pPr algn="ctr"/>
            <a:endParaRPr lang="es-CO" sz="7200">
              <a:latin typeface="Times New Roman"/>
              <a:cs typeface="Times New Roman"/>
            </a:endParaR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12E6F1CF-C64D-CB82-1478-686F9F9BAF5F}"/>
              </a:ext>
            </a:extLst>
          </p:cNvPr>
          <p:cNvCxnSpPr>
            <a:cxnSpLocks/>
          </p:cNvCxnSpPr>
          <p:nvPr/>
        </p:nvCxnSpPr>
        <p:spPr>
          <a:xfrm>
            <a:off x="5229297" y="4289210"/>
            <a:ext cx="1736203" cy="0"/>
          </a:xfrm>
          <a:prstGeom prst="line">
            <a:avLst/>
          </a:prstGeom>
          <a:ln>
            <a:solidFill>
              <a:srgbClr val="38A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ítulo 3">
            <a:extLst>
              <a:ext uri="{FF2B5EF4-FFF2-40B4-BE49-F238E27FC236}">
                <a16:creationId xmlns:a16="http://schemas.microsoft.com/office/drawing/2014/main" id="{18231615-9639-A304-26DF-E97CAAC6B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9" y="174625"/>
            <a:ext cx="10515600" cy="1325563"/>
          </a:xfrm>
        </p:spPr>
        <p:txBody>
          <a:bodyPr>
            <a:normAutofit/>
          </a:bodyPr>
          <a:lstStyle/>
          <a:p>
            <a:r>
              <a:rPr lang="es-ES" sz="5400">
                <a:solidFill>
                  <a:schemeClr val="bg1"/>
                </a:solidFill>
                <a:latin typeface="Times New Roman"/>
                <a:ea typeface="Calibri Light"/>
                <a:cs typeface="Calibri Light"/>
              </a:rPr>
              <a:t>  2.2 Nombre del proyecto</a:t>
            </a:r>
          </a:p>
        </p:txBody>
      </p:sp>
    </p:spTree>
    <p:extLst>
      <p:ext uri="{BB962C8B-B14F-4D97-AF65-F5344CB8AC3E}">
        <p14:creationId xmlns:p14="http://schemas.microsoft.com/office/powerpoint/2010/main" val="15211940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840" y="52971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s-CO" sz="4800">
                <a:latin typeface="Times New Roman"/>
                <a:ea typeface="+mj-lt"/>
                <a:cs typeface="Times New Roman"/>
              </a:rPr>
            </a:br>
            <a:br>
              <a:rPr lang="es-CO" sz="4800">
                <a:latin typeface="Times New Roman"/>
                <a:ea typeface="+mj-lt"/>
                <a:cs typeface="Times New Roman"/>
              </a:rPr>
            </a:br>
            <a:r>
              <a:rPr lang="es-CO" sz="4800">
                <a:solidFill>
                  <a:srgbClr val="FFF5EA"/>
                </a:solidFill>
                <a:latin typeface="Times New Roman"/>
                <a:ea typeface="+mj-lt"/>
                <a:cs typeface="Times New Roman"/>
              </a:rPr>
              <a:t>2.3.</a:t>
            </a:r>
            <a:r>
              <a:rPr lang="es-CO" sz="4800">
                <a:solidFill>
                  <a:srgbClr val="FFF5EA"/>
                </a:solidFill>
                <a:latin typeface="Times New Roman"/>
                <a:ea typeface="Calibri Light"/>
                <a:cs typeface="Times New Roman"/>
              </a:rPr>
              <a:t> Objetivo </a:t>
            </a:r>
            <a:r>
              <a:rPr lang="es-CO" sz="4800">
                <a:solidFill>
                  <a:srgbClr val="FFF5EA"/>
                </a:solidFill>
                <a:latin typeface="Times New Roman"/>
                <a:ea typeface="+mj-lt"/>
                <a:cs typeface="Times New Roman"/>
              </a:rPr>
              <a:t>General</a:t>
            </a:r>
          </a:p>
          <a:p>
            <a:endParaRPr lang="es-CO" sz="4800">
              <a:solidFill>
                <a:srgbClr val="FFF5EA"/>
              </a:solidFill>
              <a:latin typeface="Times New Roman"/>
              <a:ea typeface="+mj-lt"/>
              <a:cs typeface="Times New Roman"/>
            </a:endParaRPr>
          </a:p>
          <a:p>
            <a:endParaRPr lang="es-CO" sz="4800">
              <a:solidFill>
                <a:srgbClr val="FFF5EA"/>
              </a:solidFill>
              <a:latin typeface="Times New Roman"/>
              <a:ea typeface="+mj-lt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62B981-3AA7-E0E8-893E-0998E2B450A7}"/>
              </a:ext>
            </a:extLst>
          </p:cNvPr>
          <p:cNvSpPr txBox="1"/>
          <p:nvPr/>
        </p:nvSpPr>
        <p:spPr>
          <a:xfrm>
            <a:off x="302075" y="2162148"/>
            <a:ext cx="11399520" cy="32008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s-CO" sz="3600">
                <a:latin typeface="Times New Roman"/>
                <a:ea typeface="+mn-lt"/>
                <a:cs typeface="Times New Roman"/>
              </a:rPr>
              <a:t>Desarrollar un aplicativo web que incluya un sistema de información, venta e inventario de los productos que le pertenecen a la tienda para mascotas “el escondite animal”. </a:t>
            </a:r>
            <a:endParaRPr lang="es-CO" sz="3600">
              <a:solidFill>
                <a:srgbClr val="808080"/>
              </a:solidFill>
              <a:latin typeface="Times New Roman"/>
              <a:ea typeface="+mn-lt"/>
              <a:cs typeface="Times New Roman"/>
            </a:endParaRPr>
          </a:p>
          <a:p>
            <a:pPr marL="342900" indent="-342900">
              <a:buFont typeface="Arial,Sans-Serif"/>
              <a:buChar char="•"/>
            </a:pPr>
            <a:endParaRPr lang="es-CO" sz="2200">
              <a:solidFill>
                <a:srgbClr val="000000"/>
              </a:solidFill>
              <a:latin typeface="Times New Roman"/>
              <a:ea typeface="+mn-lt"/>
              <a:cs typeface="Times New Roman"/>
            </a:endParaRPr>
          </a:p>
          <a:p>
            <a:pPr algn="l"/>
            <a:endParaRPr lang="es-ES" sz="3600">
              <a:latin typeface="Times New Roman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748887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840" y="52971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s-CO" sz="4800">
                <a:latin typeface="Times New Roman"/>
                <a:ea typeface="+mj-lt"/>
                <a:cs typeface="Times New Roman"/>
              </a:rPr>
            </a:br>
            <a:r>
              <a:rPr lang="es-CO" sz="4800">
                <a:solidFill>
                  <a:srgbClr val="FFF5EA"/>
                </a:solidFill>
                <a:latin typeface="Times New Roman"/>
                <a:ea typeface="+mj-lt"/>
                <a:cs typeface="Times New Roman"/>
              </a:rPr>
              <a:t>2.4 Objetivos Específicos</a:t>
            </a:r>
          </a:p>
          <a:p>
            <a:endParaRPr lang="es-CO" sz="4800">
              <a:solidFill>
                <a:srgbClr val="FFF5EA"/>
              </a:solidFill>
              <a:latin typeface="Times New Roman"/>
              <a:ea typeface="+mj-lt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62B981-3AA7-E0E8-893E-0998E2B450A7}"/>
              </a:ext>
            </a:extLst>
          </p:cNvPr>
          <p:cNvSpPr txBox="1"/>
          <p:nvPr/>
        </p:nvSpPr>
        <p:spPr>
          <a:xfrm>
            <a:off x="84361" y="1372935"/>
            <a:ext cx="11399520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,Sans-Serif"/>
              <a:buChar char="•"/>
            </a:pPr>
            <a:r>
              <a:rPr lang="es-CO" sz="3200">
                <a:latin typeface="Times New Roman"/>
                <a:ea typeface="+mn-lt"/>
                <a:cs typeface="Times New Roman"/>
              </a:rPr>
              <a:t>Crear un sistema de inventario que permita al administrador tener un control completo sobre los productos disponibles. Esto incluye la capacidad de visualizar, editar, eliminar o agregar productos según sea necesario.</a:t>
            </a:r>
            <a:endParaRPr lang="en-US" sz="3200">
              <a:solidFill>
                <a:srgbClr val="808080"/>
              </a:solidFill>
              <a:latin typeface="Times New Roman"/>
              <a:ea typeface="+mn-lt"/>
              <a:cs typeface="Times New Roman"/>
            </a:endParaRPr>
          </a:p>
          <a:p>
            <a:pPr marL="342900" indent="-342900">
              <a:buFont typeface="Arial,Sans-Serif"/>
              <a:buChar char="•"/>
            </a:pPr>
            <a:r>
              <a:rPr lang="es-CO" sz="3200">
                <a:latin typeface="Times New Roman"/>
                <a:ea typeface="+mn-lt"/>
                <a:cs typeface="Times New Roman"/>
              </a:rPr>
              <a:t>Desarrollar un sistema de información público que consolide los datos proporcionados por el inventario de la tienda de mascotas.</a:t>
            </a:r>
            <a:endParaRPr lang="en-US" sz="3200">
              <a:solidFill>
                <a:srgbClr val="808080"/>
              </a:solidFill>
              <a:latin typeface="Times New Roman"/>
              <a:ea typeface="+mn-lt"/>
              <a:cs typeface="Times New Roman"/>
            </a:endParaRPr>
          </a:p>
          <a:p>
            <a:pPr marL="342900" indent="-342900">
              <a:buFont typeface="Arial,Sans-Serif"/>
              <a:buChar char="•"/>
            </a:pPr>
            <a:r>
              <a:rPr lang="es-CO" sz="3200">
                <a:latin typeface="Times New Roman"/>
                <a:ea typeface="+mn-lt"/>
                <a:cs typeface="Times New Roman"/>
              </a:rPr>
              <a:t>Integrar la funcionalidad del carrito de compras para brindar a los clientes una experiencia de compra virtual intuitiva y sin complicaciones.</a:t>
            </a:r>
            <a:endParaRPr lang="en-US" sz="3200">
              <a:solidFill>
                <a:srgbClr val="808080"/>
              </a:solidFill>
              <a:latin typeface="Times New Roman"/>
              <a:ea typeface="+mn-lt"/>
              <a:cs typeface="Times New Roman"/>
            </a:endParaRPr>
          </a:p>
          <a:p>
            <a:endParaRPr lang="es-ES" sz="3600">
              <a:latin typeface="Times New Roman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337919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840" y="52971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s-CO" sz="4800">
                <a:latin typeface="Times New Roman"/>
                <a:ea typeface="+mj-lt"/>
                <a:cs typeface="Times New Roman"/>
              </a:rPr>
            </a:br>
            <a:r>
              <a:rPr lang="es-CO" sz="4800">
                <a:solidFill>
                  <a:srgbClr val="FFF5EA"/>
                </a:solidFill>
                <a:latin typeface="Times New Roman"/>
                <a:ea typeface="+mj-lt"/>
                <a:cs typeface="Times New Roman"/>
              </a:rPr>
              <a:t>2.4 Objetivos Específicos</a:t>
            </a:r>
          </a:p>
          <a:p>
            <a:endParaRPr lang="es-CO" sz="4800">
              <a:solidFill>
                <a:srgbClr val="FFF5EA"/>
              </a:solidFill>
              <a:latin typeface="Times New Roman"/>
              <a:ea typeface="+mj-lt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62B981-3AA7-E0E8-893E-0998E2B450A7}"/>
              </a:ext>
            </a:extLst>
          </p:cNvPr>
          <p:cNvSpPr txBox="1"/>
          <p:nvPr/>
        </p:nvSpPr>
        <p:spPr>
          <a:xfrm>
            <a:off x="84361" y="1372935"/>
            <a:ext cx="11399520" cy="40010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,Sans-Serif"/>
              <a:buChar char="•"/>
            </a:pPr>
            <a:r>
              <a:rPr lang="es-CO" sz="2800">
                <a:latin typeface="Times New Roman"/>
                <a:ea typeface="+mn-lt"/>
                <a:cs typeface="Times New Roman"/>
              </a:rPr>
              <a:t>Implementar medidas de seguridad robustas para proteger la integridad y confidencialidad de los datos del inventario, asegurando que solo el personal autorizado tenga acceso a la información relevante.</a:t>
            </a:r>
            <a:endParaRPr lang="en-US" sz="2800">
              <a:solidFill>
                <a:srgbClr val="000000"/>
              </a:solidFill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Arial,Sans-Serif"/>
              <a:buChar char="•"/>
            </a:pPr>
            <a:r>
              <a:rPr lang="es-CO" sz="2800">
                <a:latin typeface="Times New Roman"/>
                <a:ea typeface="+mn-lt"/>
                <a:cs typeface="Times New Roman"/>
              </a:rPr>
              <a:t>Integrar funcionalidades de generación de informes periódicos sobre el estado del inventario, tendencias de ventas, productos más populares, y cualquier otra métrica relevante para la toma de decisiones gerenciales.</a:t>
            </a:r>
            <a:endParaRPr lang="en-US" sz="2800">
              <a:solidFill>
                <a:srgbClr val="000000"/>
              </a:solidFill>
              <a:latin typeface="Times New Roman"/>
              <a:ea typeface="+mn-lt"/>
              <a:cs typeface="Times New Roman"/>
            </a:endParaRPr>
          </a:p>
          <a:p>
            <a:pPr marL="342900" indent="-342900">
              <a:buFont typeface="Arial,Sans-Serif"/>
              <a:buChar char="•"/>
            </a:pPr>
            <a:endParaRPr lang="es-CO" sz="2200">
              <a:latin typeface="Times New Roman"/>
              <a:ea typeface="+mn-lt"/>
              <a:cs typeface="Times New Roman"/>
            </a:endParaRPr>
          </a:p>
          <a:p>
            <a:endParaRPr lang="es-ES" sz="3600">
              <a:solidFill>
                <a:srgbClr val="000000"/>
              </a:solidFill>
              <a:latin typeface="Times New Roman"/>
              <a:ea typeface="+mn-lt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76629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840" y="52971"/>
            <a:ext cx="10515600" cy="1325563"/>
          </a:xfrm>
        </p:spPr>
        <p:txBody>
          <a:bodyPr/>
          <a:lstStyle/>
          <a:p>
            <a:r>
              <a:rPr lang="es-CO" sz="4800">
                <a:solidFill>
                  <a:srgbClr val="FFF5EA"/>
                </a:solidFill>
                <a:latin typeface="Times New Roman"/>
                <a:ea typeface="+mj-lt"/>
                <a:cs typeface="Times New Roman"/>
              </a:rPr>
              <a:t>2.5. Planteamiento Del Problema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62B981-3AA7-E0E8-893E-0998E2B450A7}"/>
              </a:ext>
            </a:extLst>
          </p:cNvPr>
          <p:cNvSpPr txBox="1"/>
          <p:nvPr/>
        </p:nvSpPr>
        <p:spPr>
          <a:xfrm>
            <a:off x="392789" y="2107721"/>
            <a:ext cx="11399520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3600">
                <a:latin typeface="Times New Roman"/>
                <a:ea typeface="+mn-lt"/>
                <a:cs typeface="+mn-lt"/>
              </a:rPr>
              <a:t>La tienda "El Escondite Animal" le hace falta un sitio web funcional, lo que limita su visibilidad y reconocimiento. Esta falta de presencia en línea resulta en ventas reducidas. Además, la ausencia de un sistema de inventario organizado que conlleva a compras excesivas y desordenadas, ya que la tienda carece de información precisa sobre sus productos.</a:t>
            </a:r>
            <a:endParaRPr lang="en-US" sz="3600">
              <a:solidFill>
                <a:srgbClr val="808080"/>
              </a:solidFill>
              <a:latin typeface="Times New Roman"/>
              <a:ea typeface="+mn-lt"/>
              <a:cs typeface="+mn-lt"/>
            </a:endParaRPr>
          </a:p>
          <a:p>
            <a:pPr algn="l"/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796761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840" y="52971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s-CO" sz="4800">
                <a:latin typeface="Times New Roman"/>
                <a:ea typeface="+mj-lt"/>
                <a:cs typeface="Times New Roman"/>
              </a:rPr>
            </a:br>
            <a:r>
              <a:rPr lang="es-CO" sz="4800">
                <a:solidFill>
                  <a:srgbClr val="FFF5EA"/>
                </a:solidFill>
                <a:latin typeface="Times New Roman"/>
                <a:ea typeface="+mj-lt"/>
                <a:cs typeface="Times New Roman"/>
              </a:rPr>
              <a:t>2.6. Pregunta Problema</a:t>
            </a:r>
          </a:p>
          <a:p>
            <a:endParaRPr lang="es-CO" sz="4800">
              <a:solidFill>
                <a:srgbClr val="FFF5EA"/>
              </a:solidFill>
              <a:latin typeface="Times New Roman"/>
              <a:ea typeface="+mj-lt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62B981-3AA7-E0E8-893E-0998E2B450A7}"/>
              </a:ext>
            </a:extLst>
          </p:cNvPr>
          <p:cNvSpPr txBox="1"/>
          <p:nvPr/>
        </p:nvSpPr>
        <p:spPr>
          <a:xfrm>
            <a:off x="302074" y="2434293"/>
            <a:ext cx="11399520" cy="29546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400">
                <a:latin typeface="Times New Roman"/>
                <a:ea typeface="+mn-lt"/>
                <a:cs typeface="Times New Roman"/>
              </a:rPr>
              <a:t>¿Cómo un aplicativo web puede facilitar la visualización de la tienda, junto con su compra y venta de los productos para mascotas?</a:t>
            </a:r>
            <a:endParaRPr lang="es-ES" sz="4400">
              <a:solidFill>
                <a:srgbClr val="000000"/>
              </a:solidFill>
              <a:latin typeface="Times New Roman"/>
              <a:ea typeface="+mn-lt"/>
              <a:cs typeface="Times New Roman"/>
            </a:endParaRPr>
          </a:p>
          <a:p>
            <a:endParaRPr lang="es-ES" sz="3600">
              <a:solidFill>
                <a:srgbClr val="000000"/>
              </a:solidFill>
              <a:latin typeface="Times New Roman"/>
              <a:ea typeface="+mn-lt"/>
              <a:cs typeface="+mn-lt"/>
            </a:endParaRPr>
          </a:p>
          <a:p>
            <a:pPr algn="l"/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855897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217" y="398028"/>
            <a:ext cx="10515600" cy="1325563"/>
          </a:xfrm>
        </p:spPr>
        <p:txBody>
          <a:bodyPr/>
          <a:lstStyle/>
          <a:p>
            <a:r>
              <a:rPr lang="es-CO" sz="4800">
                <a:solidFill>
                  <a:srgbClr val="FFF5EA"/>
                </a:solidFill>
                <a:latin typeface="Times New Roman"/>
                <a:ea typeface="+mj-lt"/>
                <a:cs typeface="+mj-lt"/>
              </a:rPr>
              <a:t>2.7 Alcance Del Proyecto</a:t>
            </a:r>
          </a:p>
          <a:p>
            <a:endParaRPr lang="es-CO" sz="4800">
              <a:solidFill>
                <a:srgbClr val="FFF5EA"/>
              </a:solidFill>
              <a:latin typeface="Times New Roman"/>
              <a:ea typeface="+mj-lt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62B981-3AA7-E0E8-893E-0998E2B450A7}"/>
              </a:ext>
            </a:extLst>
          </p:cNvPr>
          <p:cNvSpPr txBox="1"/>
          <p:nvPr/>
        </p:nvSpPr>
        <p:spPr>
          <a:xfrm>
            <a:off x="392789" y="2107721"/>
            <a:ext cx="11399520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3600">
                <a:latin typeface="Times New Roman"/>
                <a:ea typeface="+mn-lt"/>
                <a:cs typeface="+mn-lt"/>
              </a:rPr>
              <a:t>Con el proyecto “Sistema de Gestión de Productos e inventario para la Tienda "El Escondite Animal" “Se planea que la tienda pueda mejorar en sus ventas e información para que tenga su respectivo reconocimiento y mejor manejo de inventario, este proyecto se realizara a nivel local. </a:t>
            </a:r>
            <a:endParaRPr lang="en-US">
              <a:latin typeface="Times New Roman"/>
              <a:cs typeface="Times New Roman"/>
            </a:endParaRPr>
          </a:p>
          <a:p>
            <a:endParaRPr lang="es-ES" sz="3600">
              <a:solidFill>
                <a:srgbClr val="000000"/>
              </a:solidFill>
              <a:latin typeface="Times New Roman"/>
              <a:ea typeface="+mn-lt"/>
              <a:cs typeface="+mn-lt"/>
            </a:endParaRPr>
          </a:p>
          <a:p>
            <a:pPr algn="l"/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744328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217" y="786217"/>
            <a:ext cx="10515600" cy="1325563"/>
          </a:xfrm>
        </p:spPr>
        <p:txBody>
          <a:bodyPr>
            <a:normAutofit/>
          </a:bodyPr>
          <a:lstStyle/>
          <a:p>
            <a:r>
              <a:rPr lang="es-CO" sz="4800">
                <a:solidFill>
                  <a:srgbClr val="FFF5EA"/>
                </a:solidFill>
                <a:latin typeface="Times New Roman"/>
                <a:ea typeface="+mj-lt"/>
                <a:cs typeface="+mj-lt"/>
              </a:rPr>
              <a:t>2.8. Justificación</a:t>
            </a:r>
            <a:endParaRPr lang="en-US"/>
          </a:p>
          <a:p>
            <a:endParaRPr lang="es-CO" sz="4800">
              <a:solidFill>
                <a:srgbClr val="FFF5EA"/>
              </a:solidFill>
              <a:latin typeface="Times New Roman"/>
              <a:ea typeface="+mj-lt"/>
              <a:cs typeface="+mj-lt"/>
            </a:endParaRPr>
          </a:p>
          <a:p>
            <a:endParaRPr lang="es-CO" sz="4800">
              <a:solidFill>
                <a:srgbClr val="FFF5EA"/>
              </a:solidFill>
              <a:latin typeface="Times New Roman"/>
              <a:ea typeface="+mj-lt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62B981-3AA7-E0E8-893E-0998E2B450A7}"/>
              </a:ext>
            </a:extLst>
          </p:cNvPr>
          <p:cNvSpPr txBox="1"/>
          <p:nvPr/>
        </p:nvSpPr>
        <p:spPr>
          <a:xfrm>
            <a:off x="339873" y="1631471"/>
            <a:ext cx="11399520" cy="48936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3600">
                <a:latin typeface="Times New Roman"/>
                <a:ea typeface="+mn-lt"/>
                <a:cs typeface="+mn-lt"/>
              </a:rPr>
              <a:t>La señora Paola Sánchez busca desarrollar un aplicativo web con la empresa "</a:t>
            </a:r>
            <a:r>
              <a:rPr lang="es-ES" sz="3600" err="1">
                <a:latin typeface="Times New Roman"/>
                <a:ea typeface="+mn-lt"/>
                <a:cs typeface="+mn-lt"/>
              </a:rPr>
              <a:t>The</a:t>
            </a:r>
            <a:r>
              <a:rPr lang="es-ES" sz="3600">
                <a:latin typeface="Times New Roman"/>
                <a:ea typeface="+mn-lt"/>
                <a:cs typeface="+mn-lt"/>
              </a:rPr>
              <a:t> Future </a:t>
            </a:r>
            <a:r>
              <a:rPr lang="es-ES" sz="3600" err="1">
                <a:latin typeface="Times New Roman"/>
                <a:ea typeface="+mn-lt"/>
                <a:cs typeface="+mn-lt"/>
              </a:rPr>
              <a:t>Of</a:t>
            </a:r>
            <a:r>
              <a:rPr lang="es-ES" sz="3600">
                <a:latin typeface="Times New Roman"/>
                <a:ea typeface="+mn-lt"/>
                <a:cs typeface="+mn-lt"/>
              </a:rPr>
              <a:t> </a:t>
            </a:r>
            <a:r>
              <a:rPr lang="es-ES" sz="3600" err="1">
                <a:latin typeface="Times New Roman"/>
                <a:ea typeface="+mn-lt"/>
                <a:cs typeface="+mn-lt"/>
              </a:rPr>
              <a:t>Systems</a:t>
            </a:r>
            <a:r>
              <a:rPr lang="es-ES" sz="3600">
                <a:latin typeface="Times New Roman"/>
                <a:ea typeface="+mn-lt"/>
                <a:cs typeface="+mn-lt"/>
              </a:rPr>
              <a:t>" para optimizar las ventas y mejorar la publicidad de su tienda. Esto permitirá alcanzar un público más amplio y fidelizar a los clientes.</a:t>
            </a:r>
          </a:p>
          <a:p>
            <a:endParaRPr lang="es-ES" sz="2400">
              <a:latin typeface="Times New Roman"/>
              <a:cs typeface="Times New Roman"/>
            </a:endParaRPr>
          </a:p>
          <a:p>
            <a:r>
              <a:rPr lang="es-ES" sz="3600">
                <a:latin typeface="Times New Roman"/>
                <a:ea typeface="+mn-lt"/>
                <a:cs typeface="+mn-lt"/>
              </a:rPr>
              <a:t>Además, el sistema facilitará la gestión del inventario, minimizando pérdidas y asegurando un flujo eficiente de productos. Así, se garantizará la sostenibilidad y el crecimiento en un mercado competitivo. </a:t>
            </a:r>
            <a:endParaRPr lang="es-ES" sz="36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836314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217" y="786217"/>
            <a:ext cx="10515600" cy="1325563"/>
          </a:xfrm>
        </p:spPr>
        <p:txBody>
          <a:bodyPr/>
          <a:lstStyle/>
          <a:p>
            <a:r>
              <a:rPr lang="es-CO" sz="4800">
                <a:solidFill>
                  <a:srgbClr val="FFF5EA"/>
                </a:solidFill>
                <a:latin typeface="Times New Roman"/>
                <a:ea typeface="+mj-lt"/>
                <a:cs typeface="+mj-lt"/>
              </a:rPr>
              <a:t>2.9 Mapa De Procesos</a:t>
            </a:r>
            <a:endParaRPr lang="en-US"/>
          </a:p>
          <a:p>
            <a:endParaRPr lang="es-CO" sz="4800">
              <a:solidFill>
                <a:srgbClr val="FFF5EA"/>
              </a:solidFill>
              <a:latin typeface="Times New Roman"/>
              <a:ea typeface="+mj-lt"/>
              <a:cs typeface="+mj-lt"/>
            </a:endParaRPr>
          </a:p>
          <a:p>
            <a:endParaRPr lang="es-CO" sz="4800">
              <a:solidFill>
                <a:srgbClr val="FFF5EA"/>
              </a:solidFill>
              <a:latin typeface="Times New Roman"/>
              <a:ea typeface="+mj-lt"/>
              <a:cs typeface="Times New Roman"/>
            </a:endParaRPr>
          </a:p>
        </p:txBody>
      </p:sp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0706A683-CC6E-508B-B708-E4282DD0BE8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726" t="20330" r="25424" b="21703"/>
          <a:stretch/>
        </p:blipFill>
        <p:spPr>
          <a:xfrm>
            <a:off x="1768592" y="1479314"/>
            <a:ext cx="8668673" cy="537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9622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217" y="786217"/>
            <a:ext cx="10515600" cy="1325563"/>
          </a:xfrm>
        </p:spPr>
        <p:txBody>
          <a:bodyPr/>
          <a:lstStyle/>
          <a:p>
            <a:r>
              <a:rPr lang="es-CO" sz="4800">
                <a:solidFill>
                  <a:srgbClr val="FFF5EA"/>
                </a:solidFill>
                <a:latin typeface="Times New Roman"/>
                <a:ea typeface="+mj-lt"/>
                <a:cs typeface="+mj-lt"/>
              </a:rPr>
              <a:t>2.10 BPMN</a:t>
            </a:r>
            <a:endParaRPr lang="es-ES"/>
          </a:p>
          <a:p>
            <a:endParaRPr lang="es-CO" sz="4800">
              <a:solidFill>
                <a:srgbClr val="FFF5EA"/>
              </a:solidFill>
              <a:latin typeface="Times New Roman"/>
              <a:ea typeface="+mj-lt"/>
              <a:cs typeface="+mj-lt"/>
            </a:endParaRPr>
          </a:p>
          <a:p>
            <a:endParaRPr lang="es-CO" sz="4800">
              <a:solidFill>
                <a:srgbClr val="FFF5EA"/>
              </a:solidFill>
              <a:latin typeface="Times New Roman"/>
              <a:ea typeface="+mj-lt"/>
              <a:cs typeface="Times New Roman"/>
            </a:endParaRPr>
          </a:p>
        </p:txBody>
      </p:sp>
      <p:pic>
        <p:nvPicPr>
          <p:cNvPr id="3" name="Imagen 2" descr="Diagrama, Esquemático&#10;&#10;Descripción generada automáticamente">
            <a:extLst>
              <a:ext uri="{FF2B5EF4-FFF2-40B4-BE49-F238E27FC236}">
                <a16:creationId xmlns:a16="http://schemas.microsoft.com/office/drawing/2014/main" id="{76FA4A99-3B69-BF6F-F65A-2E1C9D0AB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750" y="1452926"/>
            <a:ext cx="10054166" cy="5402064"/>
          </a:xfrm>
          <a:prstGeom prst="rect">
            <a:avLst/>
          </a:prstGeom>
        </p:spPr>
      </p:pic>
      <p:sp>
        <p:nvSpPr>
          <p:cNvPr id="7" name="Rectángulo: una sola esquina cortada 6">
            <a:extLst>
              <a:ext uri="{FF2B5EF4-FFF2-40B4-BE49-F238E27FC236}">
                <a16:creationId xmlns:a16="http://schemas.microsoft.com/office/drawing/2014/main" id="{38AA6BF2-27B2-07F7-54A9-A14EA6F62B2F}"/>
              </a:ext>
            </a:extLst>
          </p:cNvPr>
          <p:cNvSpPr/>
          <p:nvPr/>
        </p:nvSpPr>
        <p:spPr>
          <a:xfrm flipH="1">
            <a:off x="10074262" y="3592007"/>
            <a:ext cx="1830401" cy="766299"/>
          </a:xfrm>
          <a:prstGeom prst="snip1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solidFill>
                  <a:srgbClr val="000000"/>
                </a:solidFill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BPMN</a:t>
            </a:r>
            <a:endParaRPr lang="es-ES">
              <a:solidFill>
                <a:srgbClr val="000000"/>
              </a:solidFill>
              <a:ea typeface="Calibri"/>
              <a:cs typeface="Calibri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  <p:extLst>
      <p:ext uri="{BB962C8B-B14F-4D97-AF65-F5344CB8AC3E}">
        <p14:creationId xmlns:p14="http://schemas.microsoft.com/office/powerpoint/2010/main" val="13368779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217" y="786217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s-CO" sz="4800">
                <a:solidFill>
                  <a:srgbClr val="FFF5EA"/>
                </a:solidFill>
                <a:latin typeface="Times New Roman"/>
                <a:cs typeface="Calibri Light"/>
              </a:rPr>
              <a:t>2.11 Técnicas de recolección de información</a:t>
            </a:r>
            <a:endParaRPr lang="es-ES"/>
          </a:p>
          <a:p>
            <a:endParaRPr lang="es-CO" sz="4800">
              <a:solidFill>
                <a:srgbClr val="FFF5EA"/>
              </a:solidFill>
              <a:latin typeface="Times New Roman"/>
              <a:ea typeface="+mj-lt"/>
              <a:cs typeface="+mj-lt"/>
            </a:endParaRPr>
          </a:p>
          <a:p>
            <a:endParaRPr lang="es-CO" sz="4800">
              <a:solidFill>
                <a:srgbClr val="FFF5EA"/>
              </a:solidFill>
              <a:latin typeface="Times New Roman"/>
              <a:ea typeface="+mj-lt"/>
              <a:cs typeface="Times New Roman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71F4706-DEDD-85FE-9D67-28009574E22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402" t="17358" r="13475" b="-377"/>
          <a:stretch/>
        </p:blipFill>
        <p:spPr>
          <a:xfrm>
            <a:off x="129396" y="1610264"/>
            <a:ext cx="7300274" cy="4974570"/>
          </a:xfrm>
          <a:prstGeom prst="rect">
            <a:avLst/>
          </a:prstGeom>
        </p:spPr>
      </p:pic>
      <p:sp>
        <p:nvSpPr>
          <p:cNvPr id="7" name="Rectángulo: una sola esquina cortada 6">
            <a:extLst>
              <a:ext uri="{FF2B5EF4-FFF2-40B4-BE49-F238E27FC236}">
                <a16:creationId xmlns:a16="http://schemas.microsoft.com/office/drawing/2014/main" id="{32E9FBCE-70F1-47E5-EF26-06B7BF6AA295}"/>
              </a:ext>
            </a:extLst>
          </p:cNvPr>
          <p:cNvSpPr/>
          <p:nvPr/>
        </p:nvSpPr>
        <p:spPr>
          <a:xfrm flipH="1">
            <a:off x="8164775" y="2773074"/>
            <a:ext cx="2631244" cy="949284"/>
          </a:xfrm>
          <a:prstGeom prst="snip1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solidFill>
                  <a:schemeClr val="tx1"/>
                </a:solidFill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ENCUESTA</a:t>
            </a:r>
            <a:endParaRPr lang="es-ES">
              <a:solidFill>
                <a:schemeClr val="tx1"/>
              </a:solidFill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3" name="Rectángulo: una sola esquina cortada 2">
            <a:extLst>
              <a:ext uri="{FF2B5EF4-FFF2-40B4-BE49-F238E27FC236}">
                <a16:creationId xmlns:a16="http://schemas.microsoft.com/office/drawing/2014/main" id="{57C65E2C-DA86-27AD-6F48-6FCEE4F0336F}"/>
              </a:ext>
            </a:extLst>
          </p:cNvPr>
          <p:cNvSpPr/>
          <p:nvPr/>
        </p:nvSpPr>
        <p:spPr>
          <a:xfrm flipH="1">
            <a:off x="8423569" y="4095790"/>
            <a:ext cx="2631244" cy="949284"/>
          </a:xfrm>
          <a:prstGeom prst="snip1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solidFill>
                  <a:schemeClr val="tx1"/>
                </a:solidFill>
                <a:cs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INFORME ENCUESTA</a:t>
            </a:r>
            <a:endParaRPr lang="es-E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07459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217" y="786217"/>
            <a:ext cx="10515600" cy="1325563"/>
          </a:xfrm>
        </p:spPr>
        <p:txBody>
          <a:bodyPr/>
          <a:lstStyle/>
          <a:p>
            <a:r>
              <a:rPr lang="es-CO" sz="4300">
                <a:solidFill>
                  <a:srgbClr val="FFF5EA"/>
                </a:solidFill>
                <a:latin typeface="Times New Roman"/>
                <a:ea typeface="Calibri Light"/>
                <a:cs typeface="Times New Roman"/>
              </a:rPr>
              <a:t>Técnicas de recolección de información</a:t>
            </a:r>
            <a:endParaRPr lang="es-CO" sz="4300">
              <a:solidFill>
                <a:srgbClr val="000000"/>
              </a:solidFill>
              <a:latin typeface="Times New Roman"/>
              <a:ea typeface="Calibri Light"/>
              <a:cs typeface="Times New Roman"/>
            </a:endParaRPr>
          </a:p>
          <a:p>
            <a:endParaRPr lang="es-CO" sz="4800">
              <a:solidFill>
                <a:srgbClr val="FFF5EA"/>
              </a:solidFill>
              <a:latin typeface="Times New Roman"/>
              <a:ea typeface="Calibri Light"/>
              <a:cs typeface="Calibri Light"/>
            </a:endParaRPr>
          </a:p>
          <a:p>
            <a:endParaRPr lang="es-CO" sz="4800">
              <a:solidFill>
                <a:srgbClr val="FFF5EA"/>
              </a:solidFill>
              <a:latin typeface="Times New Roman"/>
              <a:ea typeface="+mj-lt"/>
              <a:cs typeface="Times New Roman"/>
            </a:endParaRPr>
          </a:p>
        </p:txBody>
      </p:sp>
      <p:pic>
        <p:nvPicPr>
          <p:cNvPr id="4" name="Imagen 3" descr="Texto&#10;&#10;Descripción generada automáticamente">
            <a:extLst>
              <a:ext uri="{FF2B5EF4-FFF2-40B4-BE49-F238E27FC236}">
                <a16:creationId xmlns:a16="http://schemas.microsoft.com/office/drawing/2014/main" id="{B0E3A9FD-53A1-7FD0-40F3-CE9B05902F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94" t="5491" r="5466"/>
          <a:stretch/>
        </p:blipFill>
        <p:spPr>
          <a:xfrm>
            <a:off x="1776350" y="1526303"/>
            <a:ext cx="5595237" cy="5326600"/>
          </a:xfrm>
          <a:prstGeom prst="rect">
            <a:avLst/>
          </a:prstGeom>
        </p:spPr>
      </p:pic>
      <p:sp>
        <p:nvSpPr>
          <p:cNvPr id="9" name="Rectángulo: una sola esquina cortada 8">
            <a:extLst>
              <a:ext uri="{FF2B5EF4-FFF2-40B4-BE49-F238E27FC236}">
                <a16:creationId xmlns:a16="http://schemas.microsoft.com/office/drawing/2014/main" id="{FD366A2E-B09A-026F-A148-CC8F8118D261}"/>
              </a:ext>
            </a:extLst>
          </p:cNvPr>
          <p:cNvSpPr/>
          <p:nvPr/>
        </p:nvSpPr>
        <p:spPr>
          <a:xfrm flipH="1">
            <a:off x="7963303" y="3578584"/>
            <a:ext cx="2719401" cy="1094382"/>
          </a:xfrm>
          <a:prstGeom prst="snip1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solidFill>
                  <a:srgbClr val="000000"/>
                </a:solidFill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ENTREVISTA</a:t>
            </a:r>
          </a:p>
        </p:txBody>
      </p:sp>
    </p:spTree>
    <p:extLst>
      <p:ext uri="{BB962C8B-B14F-4D97-AF65-F5344CB8AC3E}">
        <p14:creationId xmlns:p14="http://schemas.microsoft.com/office/powerpoint/2010/main" val="21552723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217" y="398028"/>
            <a:ext cx="10515600" cy="1325563"/>
          </a:xfrm>
        </p:spPr>
        <p:txBody>
          <a:bodyPr/>
          <a:lstStyle/>
          <a:p>
            <a:r>
              <a:rPr lang="es-CO" sz="4800">
                <a:solidFill>
                  <a:srgbClr val="FFF5EA"/>
                </a:solidFill>
                <a:latin typeface="Times New Roman"/>
                <a:ea typeface="+mj-lt"/>
                <a:cs typeface="+mj-lt"/>
              </a:rPr>
              <a:t>2.12 Requerimientos Funcionales </a:t>
            </a:r>
          </a:p>
          <a:p>
            <a:endParaRPr lang="es-CO" sz="4800">
              <a:solidFill>
                <a:srgbClr val="FFF5EA"/>
              </a:solidFill>
              <a:latin typeface="Times New Roman"/>
              <a:ea typeface="+mj-lt"/>
              <a:cs typeface="Times New Roman"/>
            </a:endParaRP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0B1AF319-DE68-4E10-1EBD-941472E950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2943441"/>
              </p:ext>
            </p:extLst>
          </p:nvPr>
        </p:nvGraphicFramePr>
        <p:xfrm>
          <a:off x="345056" y="1408981"/>
          <a:ext cx="6538377" cy="54369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2461">
                  <a:extLst>
                    <a:ext uri="{9D8B030D-6E8A-4147-A177-3AD203B41FA5}">
                      <a16:colId xmlns:a16="http://schemas.microsoft.com/office/drawing/2014/main" val="3262424264"/>
                    </a:ext>
                  </a:extLst>
                </a:gridCol>
                <a:gridCol w="3255916">
                  <a:extLst>
                    <a:ext uri="{9D8B030D-6E8A-4147-A177-3AD203B41FA5}">
                      <a16:colId xmlns:a16="http://schemas.microsoft.com/office/drawing/2014/main" val="4166948318"/>
                    </a:ext>
                  </a:extLst>
                </a:gridCol>
              </a:tblGrid>
              <a:tr h="318560">
                <a:tc>
                  <a:txBody>
                    <a:bodyPr/>
                    <a:lstStyle/>
                    <a:p>
                      <a:r>
                        <a:rPr lang="es-ES" sz="1400" b="1" i="0" u="none" strike="noStrike" kern="120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RF01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4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Ingresar al aplicativo.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1646421"/>
                  </a:ext>
                </a:extLst>
              </a:tr>
              <a:tr h="41811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4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RF02</a:t>
                      </a:r>
                      <a:endParaRPr lang="es-ES" sz="1400" b="0" i="0" u="none" strike="noStrike" noProof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4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Registrar Usuario.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8040201"/>
                  </a:ext>
                </a:extLst>
              </a:tr>
              <a:tr h="41811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4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RF03</a:t>
                      </a:r>
                      <a:endParaRPr lang="es-ES" sz="1400" b="0" i="0" u="none" strike="noStrike" noProof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4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Iniciar Sesión.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5448365"/>
                  </a:ext>
                </a:extLst>
              </a:tr>
              <a:tr h="41811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4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RF04</a:t>
                      </a:r>
                      <a:endParaRPr lang="es-ES" sz="1400" b="0" i="0" u="none" strike="noStrike" noProof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4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Restablecer contraseña.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082170"/>
                  </a:ext>
                </a:extLst>
              </a:tr>
              <a:tr h="41811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4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RF05</a:t>
                      </a:r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4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Cerrar sesión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8173151"/>
                  </a:ext>
                </a:extLst>
              </a:tr>
              <a:tr h="41811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4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RF06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4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Buscar Productos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4065545"/>
                  </a:ext>
                </a:extLst>
              </a:tr>
              <a:tr h="41811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4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RF07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4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Visualizar productos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2609432"/>
                  </a:ext>
                </a:extLst>
              </a:tr>
              <a:tr h="31856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4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RF08</a:t>
                      </a:r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4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Seleccionar Productos</a:t>
                      </a:r>
                      <a:r>
                        <a:rPr lang="es-ES" sz="1400" b="0" i="0" u="none" strike="noStrike" noProof="0">
                          <a:solidFill>
                            <a:srgbClr val="FF0000"/>
                          </a:solidFill>
                          <a:latin typeface="Arial"/>
                        </a:rPr>
                        <a:t> </a:t>
                      </a:r>
                      <a:endParaRPr lang="es-ES" sz="14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41394"/>
                  </a:ext>
                </a:extLst>
              </a:tr>
              <a:tr h="41811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400" b="1">
                          <a:solidFill>
                            <a:schemeClr val="tx1"/>
                          </a:solidFill>
                        </a:rPr>
                        <a:t>RF9</a:t>
                      </a:r>
                      <a:endParaRPr lang="es-E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400" b="0" i="0" u="none" strike="noStrike" noProof="0" dirty="0">
                          <a:solidFill>
                            <a:srgbClr val="000000"/>
                          </a:solidFill>
                          <a:latin typeface="Arial"/>
                        </a:rPr>
                        <a:t>Visualizar carro de compras.</a:t>
                      </a:r>
                      <a:endParaRPr lang="es-E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2147257"/>
                  </a:ext>
                </a:extLst>
              </a:tr>
              <a:tr h="41811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400" b="1">
                          <a:solidFill>
                            <a:schemeClr val="tx1"/>
                          </a:solidFill>
                        </a:rPr>
                        <a:t>RF10</a:t>
                      </a:r>
                      <a:endParaRPr lang="es-E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0" i="0" u="none" strike="noStrike" noProof="0" dirty="0">
                          <a:solidFill>
                            <a:srgbClr val="000000"/>
                          </a:solidFill>
                          <a:latin typeface="Arial"/>
                        </a:rPr>
                        <a:t>Agregar productos al carro de compras 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5974293"/>
                  </a:ext>
                </a:extLst>
              </a:tr>
              <a:tr h="47784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4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RF11</a:t>
                      </a:r>
                      <a:endParaRPr lang="es-ES" sz="1400" b="0" i="0" u="none" strike="noStrike" noProof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0" i="0" u="none" strike="noStrike" baseline="0" noProof="0" dirty="0">
                          <a:solidFill>
                            <a:srgbClr val="000000"/>
                          </a:solidFill>
                          <a:latin typeface="Arial"/>
                        </a:rPr>
                        <a:t>Modificar productos del carro de compras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7840554"/>
                  </a:ext>
                </a:extLst>
              </a:tr>
              <a:tr h="47784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4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RF12</a:t>
                      </a:r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4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Eliminar productos del carro de compras </a:t>
                      </a:r>
                      <a:endParaRPr lang="es-E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6505299"/>
                  </a:ext>
                </a:extLst>
              </a:tr>
              <a:tr h="31856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4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RF13</a:t>
                      </a:r>
                      <a:endParaRPr lang="es-ES" sz="1400" b="0" i="0" u="none" strike="noStrike" noProof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4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Realizar proceso de compra.</a:t>
                      </a:r>
                      <a:endParaRPr lang="es-E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0100972"/>
                  </a:ext>
                </a:extLst>
              </a:tr>
            </a:tbl>
          </a:graphicData>
        </a:graphic>
      </p:graphicFrame>
      <p:sp>
        <p:nvSpPr>
          <p:cNvPr id="5" name="Rectángulo: una sola esquina cortada 4">
            <a:extLst>
              <a:ext uri="{FF2B5EF4-FFF2-40B4-BE49-F238E27FC236}">
                <a16:creationId xmlns:a16="http://schemas.microsoft.com/office/drawing/2014/main" id="{678EFB20-1A2F-1EB9-59DE-E3C0BFD1A2BB}"/>
              </a:ext>
            </a:extLst>
          </p:cNvPr>
          <p:cNvSpPr/>
          <p:nvPr/>
        </p:nvSpPr>
        <p:spPr>
          <a:xfrm flipH="1">
            <a:off x="8994818" y="6254948"/>
            <a:ext cx="2549268" cy="608149"/>
          </a:xfrm>
          <a:prstGeom prst="snip1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solidFill>
                  <a:srgbClr val="000000"/>
                </a:solidFill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Requerimientos Funcionales</a:t>
            </a:r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878D3B2F-56A4-92AA-FBF1-7B9FA9AEA2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7659525"/>
              </p:ext>
            </p:extLst>
          </p:nvPr>
        </p:nvGraphicFramePr>
        <p:xfrm>
          <a:off x="6814868" y="1523999"/>
          <a:ext cx="5373079" cy="45789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5742">
                  <a:extLst>
                    <a:ext uri="{9D8B030D-6E8A-4147-A177-3AD203B41FA5}">
                      <a16:colId xmlns:a16="http://schemas.microsoft.com/office/drawing/2014/main" val="3262424264"/>
                    </a:ext>
                  </a:extLst>
                </a:gridCol>
                <a:gridCol w="2527337">
                  <a:extLst>
                    <a:ext uri="{9D8B030D-6E8A-4147-A177-3AD203B41FA5}">
                      <a16:colId xmlns:a16="http://schemas.microsoft.com/office/drawing/2014/main" val="4166948318"/>
                    </a:ext>
                  </a:extLst>
                </a:gridCol>
              </a:tblGrid>
              <a:tr h="31172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4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RF14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4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Agregar Usuario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6326110"/>
                  </a:ext>
                </a:extLst>
              </a:tr>
              <a:tr h="18634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4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RF15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4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Modificar Cliente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5170867"/>
                  </a:ext>
                </a:extLst>
              </a:tr>
              <a:tr h="18634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4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RF16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4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Cambiar estado Cliente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8437668"/>
                  </a:ext>
                </a:extLst>
              </a:tr>
              <a:tr h="18634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4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RF17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4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Agregar productos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44713"/>
                  </a:ext>
                </a:extLst>
              </a:tr>
              <a:tr h="18634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4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RF18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4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Cambiar estado productos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1760201"/>
                  </a:ext>
                </a:extLst>
              </a:tr>
              <a:tr h="18634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4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RF19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4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Modificar productos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273400"/>
                  </a:ext>
                </a:extLst>
              </a:tr>
              <a:tr h="18634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4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RF20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4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Agregar factura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8481830"/>
                  </a:ext>
                </a:extLst>
              </a:tr>
              <a:tr h="18634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4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RF21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4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Enviar factura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241801"/>
                  </a:ext>
                </a:extLst>
              </a:tr>
              <a:tr h="18634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4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RF22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4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Cambiar Estado factura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0311961"/>
                  </a:ext>
                </a:extLst>
              </a:tr>
              <a:tr h="18634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4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RF23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4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Agregar proveedor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0792134"/>
                  </a:ext>
                </a:extLst>
              </a:tr>
              <a:tr h="18634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4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RF24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4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Modificar proveedor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9141686"/>
                  </a:ext>
                </a:extLst>
              </a:tr>
              <a:tr h="18634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4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RF25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4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Cambiar estado proveedor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1885833"/>
                  </a:ext>
                </a:extLst>
              </a:tr>
              <a:tr h="18634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4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RF26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4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Agregar empleado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025071"/>
                  </a:ext>
                </a:extLst>
              </a:tr>
              <a:tr h="18634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4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RF27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4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Modificar empleado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3956561"/>
                  </a:ext>
                </a:extLst>
              </a:tr>
              <a:tr h="18634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4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RF28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4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Cambiar estado empleado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0032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21231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217" y="398028"/>
            <a:ext cx="10515600" cy="1325563"/>
          </a:xfrm>
        </p:spPr>
        <p:txBody>
          <a:bodyPr/>
          <a:lstStyle/>
          <a:p>
            <a:r>
              <a:rPr lang="es-CO" sz="4800">
                <a:solidFill>
                  <a:srgbClr val="FFF5EA"/>
                </a:solidFill>
                <a:latin typeface="Times New Roman"/>
                <a:ea typeface="+mj-lt"/>
                <a:cs typeface="+mj-lt"/>
              </a:rPr>
              <a:t>Requerimientos Funcionales </a:t>
            </a:r>
          </a:p>
          <a:p>
            <a:endParaRPr lang="es-CO" sz="4800">
              <a:solidFill>
                <a:srgbClr val="FFF5EA"/>
              </a:solidFill>
              <a:latin typeface="Times New Roman"/>
              <a:ea typeface="+mj-lt"/>
              <a:cs typeface="Times New Roman"/>
            </a:endParaRPr>
          </a:p>
        </p:txBody>
      </p:sp>
      <p:pic>
        <p:nvPicPr>
          <p:cNvPr id="3" name="Imagen 2" descr="Tabla&#10;&#10;Descripción generada automáticamente">
            <a:extLst>
              <a:ext uri="{FF2B5EF4-FFF2-40B4-BE49-F238E27FC236}">
                <a16:creationId xmlns:a16="http://schemas.microsoft.com/office/drawing/2014/main" id="{69961254-5311-9B6D-0DB1-B6CEBABF51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2338" r="-213" b="3089"/>
          <a:stretch/>
        </p:blipFill>
        <p:spPr>
          <a:xfrm>
            <a:off x="879231" y="1444232"/>
            <a:ext cx="10219140" cy="5312096"/>
          </a:xfrm>
          <a:prstGeom prst="rect">
            <a:avLst/>
          </a:prstGeom>
        </p:spPr>
      </p:pic>
      <p:sp>
        <p:nvSpPr>
          <p:cNvPr id="5" name="Rectángulo: una sola esquina cortada 4">
            <a:extLst>
              <a:ext uri="{FF2B5EF4-FFF2-40B4-BE49-F238E27FC236}">
                <a16:creationId xmlns:a16="http://schemas.microsoft.com/office/drawing/2014/main" id="{678EFB20-1A2F-1EB9-59DE-E3C0BFD1A2BB}"/>
              </a:ext>
            </a:extLst>
          </p:cNvPr>
          <p:cNvSpPr/>
          <p:nvPr/>
        </p:nvSpPr>
        <p:spPr>
          <a:xfrm flipH="1">
            <a:off x="9202667" y="5892434"/>
            <a:ext cx="1830401" cy="766299"/>
          </a:xfrm>
          <a:prstGeom prst="snip1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solidFill>
                  <a:srgbClr val="000000"/>
                </a:solidFill>
                <a:ea typeface="Calibri"/>
                <a:cs typeface="Calibri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3630999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217" y="398028"/>
            <a:ext cx="10515600" cy="1325563"/>
          </a:xfrm>
        </p:spPr>
        <p:txBody>
          <a:bodyPr/>
          <a:lstStyle/>
          <a:p>
            <a:r>
              <a:rPr lang="es-CO" sz="4800">
                <a:solidFill>
                  <a:srgbClr val="FFF5EA"/>
                </a:solidFill>
                <a:latin typeface="Times New Roman"/>
                <a:ea typeface="+mj-lt"/>
                <a:cs typeface="+mj-lt"/>
              </a:rPr>
              <a:t>2.13 Requerimientos No Funcionales </a:t>
            </a:r>
          </a:p>
          <a:p>
            <a:endParaRPr lang="es-CO" sz="4800">
              <a:solidFill>
                <a:srgbClr val="FFF5EA"/>
              </a:solidFill>
              <a:latin typeface="Times New Roman"/>
              <a:ea typeface="+mj-lt"/>
              <a:cs typeface="Times New Roman"/>
            </a:endParaRPr>
          </a:p>
        </p:txBody>
      </p:sp>
      <p:sp>
        <p:nvSpPr>
          <p:cNvPr id="5" name="Rectángulo: una sola esquina cortada 4">
            <a:extLst>
              <a:ext uri="{FF2B5EF4-FFF2-40B4-BE49-F238E27FC236}">
                <a16:creationId xmlns:a16="http://schemas.microsoft.com/office/drawing/2014/main" id="{678EFB20-1A2F-1EB9-59DE-E3C0BFD1A2BB}"/>
              </a:ext>
            </a:extLst>
          </p:cNvPr>
          <p:cNvSpPr/>
          <p:nvPr/>
        </p:nvSpPr>
        <p:spPr>
          <a:xfrm flipH="1">
            <a:off x="8628971" y="5832328"/>
            <a:ext cx="1830401" cy="766299"/>
          </a:xfrm>
          <a:prstGeom prst="snip1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solidFill>
                  <a:srgbClr val="000000"/>
                </a:solidFill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Requerimientos No Funcionales</a:t>
            </a:r>
            <a:endParaRPr lang="es-ES">
              <a:solidFill>
                <a:srgbClr val="000000"/>
              </a:solidFill>
              <a:ea typeface="Calibri"/>
              <a:cs typeface="Calibri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43B958A6-44F1-F351-749C-FEBC2F4E56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6990644"/>
              </p:ext>
            </p:extLst>
          </p:nvPr>
        </p:nvGraphicFramePr>
        <p:xfrm>
          <a:off x="2677583" y="2603500"/>
          <a:ext cx="7353692" cy="17078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6846">
                  <a:extLst>
                    <a:ext uri="{9D8B030D-6E8A-4147-A177-3AD203B41FA5}">
                      <a16:colId xmlns:a16="http://schemas.microsoft.com/office/drawing/2014/main" val="3286033799"/>
                    </a:ext>
                  </a:extLst>
                </a:gridCol>
                <a:gridCol w="3676846">
                  <a:extLst>
                    <a:ext uri="{9D8B030D-6E8A-4147-A177-3AD203B41FA5}">
                      <a16:colId xmlns:a16="http://schemas.microsoft.com/office/drawing/2014/main" val="684576206"/>
                    </a:ext>
                  </a:extLst>
                </a:gridCol>
              </a:tblGrid>
              <a:tr h="569283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None/>
                      </a:pPr>
                      <a:r>
                        <a:rPr lang="es-ES" sz="18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RNF01</a:t>
                      </a:r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8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Ayuda en el uso del sistema.</a:t>
                      </a:r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0037629"/>
                  </a:ext>
                </a:extLst>
              </a:tr>
              <a:tr h="56928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8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RNF02</a:t>
                      </a:r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8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Mantenimiento</a:t>
                      </a:r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3858003"/>
                  </a:ext>
                </a:extLst>
              </a:tr>
              <a:tr h="56928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8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RNF03</a:t>
                      </a:r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8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Usabilidad.</a:t>
                      </a:r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33875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71899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&#10;&#10;Descripción generada automáticamente">
            <a:extLst>
              <a:ext uri="{FF2B5EF4-FFF2-40B4-BE49-F238E27FC236}">
                <a16:creationId xmlns:a16="http://schemas.microsoft.com/office/drawing/2014/main" id="{A2834864-4114-92EC-A2EB-12ABE05EEF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04" t="2989" r="2614" b="1902"/>
          <a:stretch/>
        </p:blipFill>
        <p:spPr>
          <a:xfrm>
            <a:off x="1842841" y="1534701"/>
            <a:ext cx="8291167" cy="502876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217" y="398028"/>
            <a:ext cx="10515600" cy="1325563"/>
          </a:xfrm>
        </p:spPr>
        <p:txBody>
          <a:bodyPr/>
          <a:lstStyle/>
          <a:p>
            <a:r>
              <a:rPr lang="es-CO" sz="4800">
                <a:solidFill>
                  <a:srgbClr val="FFF5EA"/>
                </a:solidFill>
                <a:latin typeface="Times New Roman"/>
                <a:ea typeface="+mj-lt"/>
                <a:cs typeface="+mj-lt"/>
              </a:rPr>
              <a:t>Requerimientos No Funcionales </a:t>
            </a:r>
          </a:p>
          <a:p>
            <a:endParaRPr lang="es-CO" sz="4800">
              <a:solidFill>
                <a:srgbClr val="FFF5EA"/>
              </a:solidFill>
              <a:latin typeface="Times New Roman"/>
              <a:ea typeface="+mj-lt"/>
              <a:cs typeface="Times New Roman"/>
            </a:endParaRPr>
          </a:p>
        </p:txBody>
      </p:sp>
      <p:sp>
        <p:nvSpPr>
          <p:cNvPr id="5" name="Rectángulo: una sola esquina cortada 4">
            <a:extLst>
              <a:ext uri="{FF2B5EF4-FFF2-40B4-BE49-F238E27FC236}">
                <a16:creationId xmlns:a16="http://schemas.microsoft.com/office/drawing/2014/main" id="{678EFB20-1A2F-1EB9-59DE-E3C0BFD1A2BB}"/>
              </a:ext>
            </a:extLst>
          </p:cNvPr>
          <p:cNvSpPr/>
          <p:nvPr/>
        </p:nvSpPr>
        <p:spPr>
          <a:xfrm flipH="1">
            <a:off x="10290554" y="5800578"/>
            <a:ext cx="1830401" cy="766299"/>
          </a:xfrm>
          <a:prstGeom prst="snip1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solidFill>
                  <a:srgbClr val="000000"/>
                </a:solidFill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Requerimientos No Funcionales</a:t>
            </a:r>
            <a:endParaRPr lang="es-ES">
              <a:solidFill>
                <a:srgbClr val="000000"/>
              </a:solidFill>
              <a:ea typeface="Calibri"/>
              <a:cs typeface="Calibri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  <p:extLst>
      <p:ext uri="{BB962C8B-B14F-4D97-AF65-F5344CB8AC3E}">
        <p14:creationId xmlns:p14="http://schemas.microsoft.com/office/powerpoint/2010/main" val="22480216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>
            <a:extLst>
              <a:ext uri="{FF2B5EF4-FFF2-40B4-BE49-F238E27FC236}">
                <a16:creationId xmlns:a16="http://schemas.microsoft.com/office/drawing/2014/main" id="{5FEF5540-4FFB-02C1-F1A1-A77DAE528207}"/>
              </a:ext>
            </a:extLst>
          </p:cNvPr>
          <p:cNvSpPr txBox="1">
            <a:spLocks/>
          </p:cNvSpPr>
          <p:nvPr/>
        </p:nvSpPr>
        <p:spPr>
          <a:xfrm>
            <a:off x="286133" y="480655"/>
            <a:ext cx="10515600" cy="8481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800">
                <a:solidFill>
                  <a:srgbClr val="FFF5EA"/>
                </a:solidFill>
                <a:latin typeface="Times New Roman"/>
                <a:ea typeface="+mj-lt"/>
                <a:cs typeface="+mj-lt"/>
              </a:rPr>
              <a:t>2.14 Mapa de navegabilidad de la página web</a:t>
            </a:r>
          </a:p>
        </p:txBody>
      </p:sp>
      <p:sp>
        <p:nvSpPr>
          <p:cNvPr id="12" name="Rectángulo: una sola esquina cortada 11">
            <a:extLst>
              <a:ext uri="{FF2B5EF4-FFF2-40B4-BE49-F238E27FC236}">
                <a16:creationId xmlns:a16="http://schemas.microsoft.com/office/drawing/2014/main" id="{25AF714F-9D9F-6F81-9E98-B4C093C51190}"/>
              </a:ext>
            </a:extLst>
          </p:cNvPr>
          <p:cNvSpPr/>
          <p:nvPr/>
        </p:nvSpPr>
        <p:spPr>
          <a:xfrm flipH="1">
            <a:off x="9782135" y="6053921"/>
            <a:ext cx="2123780" cy="714545"/>
          </a:xfrm>
          <a:prstGeom prst="snip1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solidFill>
                  <a:srgbClr val="000000"/>
                </a:solidFill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MAPA NAVEGABILIDAD</a:t>
            </a:r>
            <a:endParaRPr lang="es-ES">
              <a:solidFill>
                <a:srgbClr val="000000"/>
              </a:solidFill>
              <a:ea typeface="Calibri"/>
              <a:cs typeface="Calibri"/>
            </a:endParaRPr>
          </a:p>
        </p:txBody>
      </p:sp>
      <p:pic>
        <p:nvPicPr>
          <p:cNvPr id="2" name="Imagen 1" descr="Diagrama&#10;&#10;Descripción generada automáticamente">
            <a:extLst>
              <a:ext uri="{FF2B5EF4-FFF2-40B4-BE49-F238E27FC236}">
                <a16:creationId xmlns:a16="http://schemas.microsoft.com/office/drawing/2014/main" id="{8BA33C52-61AC-BF4E-4F37-C56C1F09B3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36763"/>
            <a:ext cx="12192000" cy="3617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1826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48D25012-9F92-A86A-6BA6-1131A0090B86}"/>
              </a:ext>
            </a:extLst>
          </p:cNvPr>
          <p:cNvSpPr txBox="1">
            <a:spLocks/>
          </p:cNvSpPr>
          <p:nvPr/>
        </p:nvSpPr>
        <p:spPr>
          <a:xfrm>
            <a:off x="286133" y="480655"/>
            <a:ext cx="4462221" cy="8481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800">
                <a:solidFill>
                  <a:srgbClr val="FFF5EA"/>
                </a:solidFill>
                <a:latin typeface="Times New Roman"/>
                <a:ea typeface="+mj-lt"/>
                <a:cs typeface="+mj-lt"/>
              </a:rPr>
              <a:t>2.15 Mockups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DAD0CF74-A180-2FF1-B238-A62803B03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2424" y="1502228"/>
            <a:ext cx="5793645" cy="5354665"/>
          </a:xfrm>
          <a:prstGeom prst="rect">
            <a:avLst/>
          </a:prstGeom>
        </p:spPr>
      </p:pic>
      <p:sp>
        <p:nvSpPr>
          <p:cNvPr id="5" name="Rectángulo: una sola esquina cortada 4">
            <a:extLst>
              <a:ext uri="{FF2B5EF4-FFF2-40B4-BE49-F238E27FC236}">
                <a16:creationId xmlns:a16="http://schemas.microsoft.com/office/drawing/2014/main" id="{CE2D2715-44C6-66F2-620C-84827DA3D392}"/>
              </a:ext>
            </a:extLst>
          </p:cNvPr>
          <p:cNvSpPr/>
          <p:nvPr/>
        </p:nvSpPr>
        <p:spPr>
          <a:xfrm flipH="1">
            <a:off x="2519032" y="3431130"/>
            <a:ext cx="2039973" cy="1249495"/>
          </a:xfrm>
          <a:prstGeom prst="snip1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solidFill>
                  <a:schemeClr val="tx1"/>
                </a:solidFill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Mockups</a:t>
            </a:r>
            <a:endParaRPr lang="es-ES">
              <a:solidFill>
                <a:schemeClr val="tx1"/>
              </a:solidFill>
              <a:cs typeface="Calibri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  <p:extLst>
      <p:ext uri="{BB962C8B-B14F-4D97-AF65-F5344CB8AC3E}">
        <p14:creationId xmlns:p14="http://schemas.microsoft.com/office/powerpoint/2010/main" val="37267474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48D25012-9F92-A86A-6BA6-1131A0090B86}"/>
              </a:ext>
            </a:extLst>
          </p:cNvPr>
          <p:cNvSpPr txBox="1">
            <a:spLocks/>
          </p:cNvSpPr>
          <p:nvPr/>
        </p:nvSpPr>
        <p:spPr>
          <a:xfrm>
            <a:off x="286133" y="480655"/>
            <a:ext cx="10515600" cy="8481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800">
                <a:solidFill>
                  <a:srgbClr val="FFF5EA"/>
                </a:solidFill>
                <a:latin typeface="Times New Roman"/>
                <a:ea typeface="+mj-lt"/>
                <a:cs typeface="+mj-lt"/>
              </a:rPr>
              <a:t>2.16 Ficha Técnica</a:t>
            </a:r>
          </a:p>
        </p:txBody>
      </p:sp>
      <p:sp>
        <p:nvSpPr>
          <p:cNvPr id="6" name="Rectángulo: una sola esquina cortada 5">
            <a:extLst>
              <a:ext uri="{FF2B5EF4-FFF2-40B4-BE49-F238E27FC236}">
                <a16:creationId xmlns:a16="http://schemas.microsoft.com/office/drawing/2014/main" id="{EAF8A78D-7075-BAAA-6594-8C2EB97E1642}"/>
              </a:ext>
            </a:extLst>
          </p:cNvPr>
          <p:cNvSpPr/>
          <p:nvPr/>
        </p:nvSpPr>
        <p:spPr>
          <a:xfrm flipH="1">
            <a:off x="441675" y="5515744"/>
            <a:ext cx="1408602" cy="629010"/>
          </a:xfrm>
          <a:prstGeom prst="snip1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solidFill>
                  <a:schemeClr val="tx1"/>
                </a:solidFill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Ficha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ACB92CF-A0D5-EA72-2B5F-A156C587F8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4808" y="1481890"/>
            <a:ext cx="6300016" cy="5107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6790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48D25012-9F92-A86A-6BA6-1131A0090B86}"/>
              </a:ext>
            </a:extLst>
          </p:cNvPr>
          <p:cNvSpPr txBox="1">
            <a:spLocks/>
          </p:cNvSpPr>
          <p:nvPr/>
        </p:nvSpPr>
        <p:spPr>
          <a:xfrm>
            <a:off x="286133" y="480655"/>
            <a:ext cx="10515600" cy="8481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800">
                <a:solidFill>
                  <a:srgbClr val="FFF5EA"/>
                </a:solidFill>
                <a:latin typeface="Times New Roman"/>
                <a:ea typeface="+mj-lt"/>
                <a:cs typeface="+mj-lt"/>
              </a:rPr>
              <a:t>2.17 Propuesta Técnica</a:t>
            </a:r>
          </a:p>
        </p:txBody>
      </p:sp>
      <p:sp>
        <p:nvSpPr>
          <p:cNvPr id="6" name="Rectángulo: una sola esquina cortada 5">
            <a:extLst>
              <a:ext uri="{FF2B5EF4-FFF2-40B4-BE49-F238E27FC236}">
                <a16:creationId xmlns:a16="http://schemas.microsoft.com/office/drawing/2014/main" id="{EAF8A78D-7075-BAAA-6594-8C2EB97E1642}"/>
              </a:ext>
            </a:extLst>
          </p:cNvPr>
          <p:cNvSpPr/>
          <p:nvPr/>
        </p:nvSpPr>
        <p:spPr>
          <a:xfrm flipH="1">
            <a:off x="441675" y="5515744"/>
            <a:ext cx="1408602" cy="629010"/>
          </a:xfrm>
          <a:prstGeom prst="snip1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solidFill>
                  <a:schemeClr val="tx1"/>
                </a:solidFill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Propuesta</a:t>
            </a:r>
          </a:p>
        </p:txBody>
      </p:sp>
      <p:pic>
        <p:nvPicPr>
          <p:cNvPr id="2" name="Imagen 1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923D30DD-12C5-EF06-0D98-37671B7363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3333" y="1625600"/>
            <a:ext cx="6380501" cy="5099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3723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48D25012-9F92-A86A-6BA6-1131A0090B86}"/>
              </a:ext>
            </a:extLst>
          </p:cNvPr>
          <p:cNvSpPr txBox="1">
            <a:spLocks/>
          </p:cNvSpPr>
          <p:nvPr/>
        </p:nvSpPr>
        <p:spPr>
          <a:xfrm>
            <a:off x="355406" y="480655"/>
            <a:ext cx="10515600" cy="8481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800">
                <a:solidFill>
                  <a:srgbClr val="FFF5EA"/>
                </a:solidFill>
                <a:latin typeface="Times New Roman"/>
                <a:ea typeface="+mj-lt"/>
                <a:cs typeface="+mj-lt"/>
              </a:rPr>
              <a:t>2.18 Diagrama Casos de Uso</a:t>
            </a:r>
          </a:p>
        </p:txBody>
      </p:sp>
      <p:sp>
        <p:nvSpPr>
          <p:cNvPr id="7" name="Rectángulo: una sola esquina cortada 6">
            <a:extLst>
              <a:ext uri="{FF2B5EF4-FFF2-40B4-BE49-F238E27FC236}">
                <a16:creationId xmlns:a16="http://schemas.microsoft.com/office/drawing/2014/main" id="{ABE02CEB-72A0-6F40-9EA0-77BDE05D4C01}"/>
              </a:ext>
            </a:extLst>
          </p:cNvPr>
          <p:cNvSpPr/>
          <p:nvPr/>
        </p:nvSpPr>
        <p:spPr>
          <a:xfrm flipH="1">
            <a:off x="10062433" y="3421890"/>
            <a:ext cx="1591861" cy="861844"/>
          </a:xfrm>
          <a:prstGeom prst="snip1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solidFill>
                  <a:schemeClr val="tx1"/>
                </a:solidFill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Diagrama</a:t>
            </a:r>
            <a:endParaRPr lang="es-ES">
              <a:solidFill>
                <a:schemeClr val="tx1"/>
              </a:solidFill>
            </a:endParaRPr>
          </a:p>
        </p:txBody>
      </p:sp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A809F027-A177-1675-309E-6C14B7664E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396" y="1495156"/>
            <a:ext cx="7418717" cy="5118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17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48D25012-9F92-A86A-6BA6-1131A0090B86}"/>
              </a:ext>
            </a:extLst>
          </p:cNvPr>
          <p:cNvSpPr txBox="1">
            <a:spLocks/>
          </p:cNvSpPr>
          <p:nvPr/>
        </p:nvSpPr>
        <p:spPr>
          <a:xfrm>
            <a:off x="355406" y="480655"/>
            <a:ext cx="10515600" cy="8481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800">
                <a:solidFill>
                  <a:srgbClr val="FFF5EA"/>
                </a:solidFill>
                <a:latin typeface="Times New Roman"/>
                <a:ea typeface="+mj-lt"/>
                <a:cs typeface="+mj-lt"/>
              </a:rPr>
              <a:t>2.19 Especificación Casos de Uso</a:t>
            </a:r>
          </a:p>
        </p:txBody>
      </p:sp>
      <p:pic>
        <p:nvPicPr>
          <p:cNvPr id="3" name="Imagen 2" descr="Tabla&#10;&#10;Descripción generada automáticamente">
            <a:extLst>
              <a:ext uri="{FF2B5EF4-FFF2-40B4-BE49-F238E27FC236}">
                <a16:creationId xmlns:a16="http://schemas.microsoft.com/office/drawing/2014/main" id="{B6606393-4810-592B-DC87-16349B553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9017" y="1811254"/>
            <a:ext cx="6263940" cy="4508834"/>
          </a:xfrm>
          <a:prstGeom prst="rect">
            <a:avLst/>
          </a:prstGeom>
        </p:spPr>
      </p:pic>
      <p:sp>
        <p:nvSpPr>
          <p:cNvPr id="5" name="Rectángulo: una sola esquina cortada 4">
            <a:extLst>
              <a:ext uri="{FF2B5EF4-FFF2-40B4-BE49-F238E27FC236}">
                <a16:creationId xmlns:a16="http://schemas.microsoft.com/office/drawing/2014/main" id="{FD3633D4-D05F-056A-8835-16EAA3F1BE58}"/>
              </a:ext>
            </a:extLst>
          </p:cNvPr>
          <p:cNvSpPr/>
          <p:nvPr/>
        </p:nvSpPr>
        <p:spPr>
          <a:xfrm flipH="1">
            <a:off x="10420087" y="5702344"/>
            <a:ext cx="1591861" cy="861844"/>
          </a:xfrm>
          <a:prstGeom prst="snip1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solidFill>
                  <a:schemeClr val="tx1"/>
                </a:solidFill>
                <a:ea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Especificación</a:t>
            </a:r>
          </a:p>
        </p:txBody>
      </p:sp>
    </p:spTree>
    <p:extLst>
      <p:ext uri="{BB962C8B-B14F-4D97-AF65-F5344CB8AC3E}">
        <p14:creationId xmlns:p14="http://schemas.microsoft.com/office/powerpoint/2010/main" val="30248944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48D25012-9F92-A86A-6BA6-1131A0090B86}"/>
              </a:ext>
            </a:extLst>
          </p:cNvPr>
          <p:cNvSpPr txBox="1">
            <a:spLocks/>
          </p:cNvSpPr>
          <p:nvPr/>
        </p:nvSpPr>
        <p:spPr>
          <a:xfrm>
            <a:off x="286133" y="480655"/>
            <a:ext cx="10515600" cy="8481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800">
                <a:solidFill>
                  <a:srgbClr val="FFF5EA"/>
                </a:solidFill>
                <a:latin typeface="Times New Roman"/>
                <a:ea typeface="+mj-lt"/>
                <a:cs typeface="+mj-lt"/>
              </a:rPr>
              <a:t>2.20 Modelo Entidad Relación</a:t>
            </a:r>
          </a:p>
        </p:txBody>
      </p:sp>
      <p:sp>
        <p:nvSpPr>
          <p:cNvPr id="5" name="Rectángulo: una sola esquina cortada 4">
            <a:extLst>
              <a:ext uri="{FF2B5EF4-FFF2-40B4-BE49-F238E27FC236}">
                <a16:creationId xmlns:a16="http://schemas.microsoft.com/office/drawing/2014/main" id="{AA7828E5-A44A-513C-0B07-C7463FBE1540}"/>
              </a:ext>
            </a:extLst>
          </p:cNvPr>
          <p:cNvSpPr/>
          <p:nvPr/>
        </p:nvSpPr>
        <p:spPr>
          <a:xfrm flipH="1">
            <a:off x="10420087" y="5692318"/>
            <a:ext cx="1591861" cy="861844"/>
          </a:xfrm>
          <a:prstGeom prst="snip1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  <a:ea typeface="Calibri"/>
                <a:cs typeface="Calibri"/>
                <a:hlinkClick r:id="rId2"/>
              </a:rPr>
              <a:t>Mer</a:t>
            </a:r>
          </a:p>
        </p:txBody>
      </p:sp>
      <p:pic>
        <p:nvPicPr>
          <p:cNvPr id="3" name="Imagen 2" descr="Diagrama, Esquemático&#10;&#10;Descripción generada automáticamente">
            <a:extLst>
              <a:ext uri="{FF2B5EF4-FFF2-40B4-BE49-F238E27FC236}">
                <a16:creationId xmlns:a16="http://schemas.microsoft.com/office/drawing/2014/main" id="{5CF61043-B790-4C23-CF62-F91C241CEA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62" t="11157" r="254" b="17481"/>
          <a:stretch/>
        </p:blipFill>
        <p:spPr>
          <a:xfrm>
            <a:off x="1691217" y="1714500"/>
            <a:ext cx="6375648" cy="4682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2435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48D25012-9F92-A86A-6BA6-1131A0090B86}"/>
              </a:ext>
            </a:extLst>
          </p:cNvPr>
          <p:cNvSpPr txBox="1">
            <a:spLocks/>
          </p:cNvSpPr>
          <p:nvPr/>
        </p:nvSpPr>
        <p:spPr>
          <a:xfrm>
            <a:off x="286133" y="480655"/>
            <a:ext cx="10515600" cy="8481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800" dirty="0">
                <a:solidFill>
                  <a:srgbClr val="FFF5EA"/>
                </a:solidFill>
                <a:latin typeface="Times New Roman"/>
                <a:ea typeface="+mj-lt"/>
                <a:cs typeface="+mj-lt"/>
              </a:rPr>
              <a:t>2.21 Modelo Relacional</a:t>
            </a:r>
          </a:p>
        </p:txBody>
      </p:sp>
      <p:sp>
        <p:nvSpPr>
          <p:cNvPr id="6" name="Rectángulo: una sola esquina cortada 5">
            <a:extLst>
              <a:ext uri="{FF2B5EF4-FFF2-40B4-BE49-F238E27FC236}">
                <a16:creationId xmlns:a16="http://schemas.microsoft.com/office/drawing/2014/main" id="{F883D14F-72FF-9253-E7B2-1E0C63886398}"/>
              </a:ext>
            </a:extLst>
          </p:cNvPr>
          <p:cNvSpPr/>
          <p:nvPr/>
        </p:nvSpPr>
        <p:spPr>
          <a:xfrm flipH="1">
            <a:off x="10456373" y="5756773"/>
            <a:ext cx="1591861" cy="861844"/>
          </a:xfrm>
          <a:prstGeom prst="snip1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solidFill>
                  <a:schemeClr val="tx1"/>
                </a:solidFill>
                <a:ea typeface="Calibri"/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M. Relacional</a:t>
            </a:r>
          </a:p>
        </p:txBody>
      </p:sp>
      <p:pic>
        <p:nvPicPr>
          <p:cNvPr id="3" name="Imagen 2" descr="Imagen que contiene Escala de tiempo&#10;&#10;Descripción generada automáticamente">
            <a:extLst>
              <a:ext uri="{FF2B5EF4-FFF2-40B4-BE49-F238E27FC236}">
                <a16:creationId xmlns:a16="http://schemas.microsoft.com/office/drawing/2014/main" id="{F57DB797-3140-91EC-DA7E-97934BA12C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168" y="1553485"/>
            <a:ext cx="5072192" cy="5272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9019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48D25012-9F92-A86A-6BA6-1131A0090B86}"/>
              </a:ext>
            </a:extLst>
          </p:cNvPr>
          <p:cNvSpPr txBox="1">
            <a:spLocks/>
          </p:cNvSpPr>
          <p:nvPr/>
        </p:nvSpPr>
        <p:spPr>
          <a:xfrm>
            <a:off x="355406" y="480655"/>
            <a:ext cx="10515600" cy="8481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800">
                <a:solidFill>
                  <a:srgbClr val="FFF5EA"/>
                </a:solidFill>
                <a:latin typeface="Times New Roman"/>
                <a:ea typeface="+mj-lt"/>
                <a:cs typeface="+mj-lt"/>
              </a:rPr>
              <a:t>2.22 Normalización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3684535-2AE5-CFCC-31AD-FA5D87D90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511" y="1547777"/>
            <a:ext cx="10007600" cy="4867604"/>
          </a:xfrm>
          <a:prstGeom prst="rect">
            <a:avLst/>
          </a:prstGeom>
        </p:spPr>
      </p:pic>
      <p:sp>
        <p:nvSpPr>
          <p:cNvPr id="6" name="Rectángulo: una sola esquina cortada 5">
            <a:extLst>
              <a:ext uri="{FF2B5EF4-FFF2-40B4-BE49-F238E27FC236}">
                <a16:creationId xmlns:a16="http://schemas.microsoft.com/office/drawing/2014/main" id="{AA74747F-2307-43A4-AAC8-CD7CB01A805A}"/>
              </a:ext>
            </a:extLst>
          </p:cNvPr>
          <p:cNvSpPr/>
          <p:nvPr/>
        </p:nvSpPr>
        <p:spPr>
          <a:xfrm flipH="1">
            <a:off x="10071744" y="2567258"/>
            <a:ext cx="1591861" cy="861844"/>
          </a:xfrm>
          <a:prstGeom prst="snip1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solidFill>
                  <a:schemeClr val="tx1"/>
                </a:solidFill>
                <a:ea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Normalización</a:t>
            </a:r>
          </a:p>
        </p:txBody>
      </p:sp>
    </p:spTree>
    <p:extLst>
      <p:ext uri="{BB962C8B-B14F-4D97-AF65-F5344CB8AC3E}">
        <p14:creationId xmlns:p14="http://schemas.microsoft.com/office/powerpoint/2010/main" val="29537862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48D25012-9F92-A86A-6BA6-1131A0090B86}"/>
              </a:ext>
            </a:extLst>
          </p:cNvPr>
          <p:cNvSpPr txBox="1">
            <a:spLocks/>
          </p:cNvSpPr>
          <p:nvPr/>
        </p:nvSpPr>
        <p:spPr>
          <a:xfrm>
            <a:off x="355406" y="480655"/>
            <a:ext cx="10515600" cy="8481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800">
                <a:solidFill>
                  <a:srgbClr val="FFF5EA"/>
                </a:solidFill>
                <a:latin typeface="Times New Roman"/>
                <a:ea typeface="+mj-lt"/>
                <a:cs typeface="+mj-lt"/>
              </a:rPr>
              <a:t>2.23 Diagrama de Clases UML</a:t>
            </a:r>
            <a:endParaRPr lang="es-ES"/>
          </a:p>
        </p:txBody>
      </p:sp>
      <p:sp>
        <p:nvSpPr>
          <p:cNvPr id="5" name="Rectángulo: una sola esquina cortada 4">
            <a:extLst>
              <a:ext uri="{FF2B5EF4-FFF2-40B4-BE49-F238E27FC236}">
                <a16:creationId xmlns:a16="http://schemas.microsoft.com/office/drawing/2014/main" id="{FD3633D4-D05F-056A-8835-16EAA3F1BE58}"/>
              </a:ext>
            </a:extLst>
          </p:cNvPr>
          <p:cNvSpPr/>
          <p:nvPr/>
        </p:nvSpPr>
        <p:spPr>
          <a:xfrm flipH="1">
            <a:off x="10420087" y="5702344"/>
            <a:ext cx="1591861" cy="861844"/>
          </a:xfrm>
          <a:prstGeom prst="snip1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  <a:ea typeface="Calibri"/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Clases</a:t>
            </a:r>
          </a:p>
        </p:txBody>
      </p:sp>
      <p:pic>
        <p:nvPicPr>
          <p:cNvPr id="6" name="Imagen 5" descr="Diagrama&#10;&#10;Descripción generada automáticamente">
            <a:extLst>
              <a:ext uri="{FF2B5EF4-FFF2-40B4-BE49-F238E27FC236}">
                <a16:creationId xmlns:a16="http://schemas.microsoft.com/office/drawing/2014/main" id="{C51620B3-53ED-C042-0662-BFC84AD6EB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238" y="1713971"/>
            <a:ext cx="8201025" cy="503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3957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48D25012-9F92-A86A-6BA6-1131A0090B86}"/>
              </a:ext>
            </a:extLst>
          </p:cNvPr>
          <p:cNvSpPr txBox="1">
            <a:spLocks/>
          </p:cNvSpPr>
          <p:nvPr/>
        </p:nvSpPr>
        <p:spPr>
          <a:xfrm>
            <a:off x="355406" y="480655"/>
            <a:ext cx="10515600" cy="8481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800">
                <a:solidFill>
                  <a:srgbClr val="FFF5EA"/>
                </a:solidFill>
                <a:latin typeface="Times New Roman"/>
                <a:ea typeface="+mj-lt"/>
                <a:cs typeface="+mj-lt"/>
              </a:rPr>
              <a:t>2.24 Base de datos</a:t>
            </a:r>
          </a:p>
        </p:txBody>
      </p:sp>
      <p:sp>
        <p:nvSpPr>
          <p:cNvPr id="6" name="Rectángulo: una sola esquina cortada 5">
            <a:extLst>
              <a:ext uri="{FF2B5EF4-FFF2-40B4-BE49-F238E27FC236}">
                <a16:creationId xmlns:a16="http://schemas.microsoft.com/office/drawing/2014/main" id="{806E38D7-B32F-61D6-FD8F-26754320F670}"/>
              </a:ext>
            </a:extLst>
          </p:cNvPr>
          <p:cNvSpPr/>
          <p:nvPr/>
        </p:nvSpPr>
        <p:spPr>
          <a:xfrm flipH="1">
            <a:off x="688258" y="5768263"/>
            <a:ext cx="1591861" cy="861844"/>
          </a:xfrm>
          <a:prstGeom prst="snip1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solidFill>
                  <a:schemeClr val="tx1"/>
                </a:solidFill>
                <a:ea typeface="Calibri"/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Tablas</a:t>
            </a:r>
            <a:endParaRPr lang="es-ES">
              <a:solidFill>
                <a:schemeClr val="tx1"/>
              </a:solidFill>
            </a:endParaRPr>
          </a:p>
        </p:txBody>
      </p:sp>
      <p:sp>
        <p:nvSpPr>
          <p:cNvPr id="3" name="Rectángulo: una sola esquina cortada 2">
            <a:extLst>
              <a:ext uri="{FF2B5EF4-FFF2-40B4-BE49-F238E27FC236}">
                <a16:creationId xmlns:a16="http://schemas.microsoft.com/office/drawing/2014/main" id="{F9E4E8EA-4552-68FC-241B-92A0BEA7C1FF}"/>
              </a:ext>
            </a:extLst>
          </p:cNvPr>
          <p:cNvSpPr/>
          <p:nvPr/>
        </p:nvSpPr>
        <p:spPr>
          <a:xfrm flipH="1">
            <a:off x="6731643" y="5768263"/>
            <a:ext cx="1591861" cy="861844"/>
          </a:xfrm>
          <a:prstGeom prst="snip1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solidFill>
                  <a:schemeClr val="tx1"/>
                </a:solidFill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Encriptación</a:t>
            </a:r>
            <a:endParaRPr lang="es-ES"/>
          </a:p>
        </p:txBody>
      </p:sp>
      <p:sp>
        <p:nvSpPr>
          <p:cNvPr id="5" name="Rectángulo: una sola esquina cortada 4">
            <a:extLst>
              <a:ext uri="{FF2B5EF4-FFF2-40B4-BE49-F238E27FC236}">
                <a16:creationId xmlns:a16="http://schemas.microsoft.com/office/drawing/2014/main" id="{BB56B395-6642-810A-CBE6-21B040025C9A}"/>
              </a:ext>
            </a:extLst>
          </p:cNvPr>
          <p:cNvSpPr/>
          <p:nvPr/>
        </p:nvSpPr>
        <p:spPr>
          <a:xfrm flipH="1">
            <a:off x="9917529" y="5768263"/>
            <a:ext cx="1591861" cy="861844"/>
          </a:xfrm>
          <a:prstGeom prst="snip1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solidFill>
                  <a:schemeClr val="tx1"/>
                </a:solidFill>
                <a:cs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Consultas</a:t>
            </a:r>
            <a:endParaRPr lang="es-ES"/>
          </a:p>
        </p:txBody>
      </p:sp>
      <p:pic>
        <p:nvPicPr>
          <p:cNvPr id="7" name="Imagen 6" descr="Tabla&#10;&#10;Descripción generada automáticamente">
            <a:extLst>
              <a:ext uri="{FF2B5EF4-FFF2-40B4-BE49-F238E27FC236}">
                <a16:creationId xmlns:a16="http://schemas.microsoft.com/office/drawing/2014/main" id="{405C6D62-EF51-16FF-0E44-3B4907C677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333" y="1556219"/>
            <a:ext cx="11927416" cy="3988978"/>
          </a:xfrm>
          <a:prstGeom prst="rect">
            <a:avLst/>
          </a:prstGeom>
        </p:spPr>
      </p:pic>
      <p:sp>
        <p:nvSpPr>
          <p:cNvPr id="8" name="Rectángulo: una sola esquina cortada 7">
            <a:extLst>
              <a:ext uri="{FF2B5EF4-FFF2-40B4-BE49-F238E27FC236}">
                <a16:creationId xmlns:a16="http://schemas.microsoft.com/office/drawing/2014/main" id="{900BC71E-742C-ED6E-50AC-ED597EADA9F4}"/>
              </a:ext>
            </a:extLst>
          </p:cNvPr>
          <p:cNvSpPr/>
          <p:nvPr/>
        </p:nvSpPr>
        <p:spPr>
          <a:xfrm flipH="1">
            <a:off x="3874142" y="5768262"/>
            <a:ext cx="1591861" cy="861844"/>
          </a:xfrm>
          <a:prstGeom prst="snip1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solidFill>
                  <a:schemeClr val="tx1"/>
                </a:solidFill>
                <a:cs typeface="Calibri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Estructura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91705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nterfaz de usuario gráfica, Texto&#10;&#10;Descripción generada automáticamente">
            <a:extLst>
              <a:ext uri="{FF2B5EF4-FFF2-40B4-BE49-F238E27FC236}">
                <a16:creationId xmlns:a16="http://schemas.microsoft.com/office/drawing/2014/main" id="{D9088596-90E8-DE28-4126-ECE65D39C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583" y="1461873"/>
            <a:ext cx="10625667" cy="5151338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48D25012-9F92-A86A-6BA6-1131A0090B86}"/>
              </a:ext>
            </a:extLst>
          </p:cNvPr>
          <p:cNvSpPr txBox="1">
            <a:spLocks/>
          </p:cNvSpPr>
          <p:nvPr/>
        </p:nvSpPr>
        <p:spPr>
          <a:xfrm>
            <a:off x="355406" y="480655"/>
            <a:ext cx="10515600" cy="8481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800">
                <a:solidFill>
                  <a:srgbClr val="FFF5EA"/>
                </a:solidFill>
                <a:latin typeface="Times New Roman"/>
                <a:ea typeface="+mj-lt"/>
                <a:cs typeface="+mj-lt"/>
              </a:rPr>
              <a:t>2.25 Diccionario Base de Datos</a:t>
            </a:r>
          </a:p>
        </p:txBody>
      </p:sp>
      <p:sp>
        <p:nvSpPr>
          <p:cNvPr id="3" name="Rectángulo: una sola esquina cortada 2">
            <a:extLst>
              <a:ext uri="{FF2B5EF4-FFF2-40B4-BE49-F238E27FC236}">
                <a16:creationId xmlns:a16="http://schemas.microsoft.com/office/drawing/2014/main" id="{E0869B8E-BA53-9792-51AF-4D3503135AFF}"/>
              </a:ext>
            </a:extLst>
          </p:cNvPr>
          <p:cNvSpPr/>
          <p:nvPr/>
        </p:nvSpPr>
        <p:spPr>
          <a:xfrm flipH="1">
            <a:off x="10456373" y="5756773"/>
            <a:ext cx="1591861" cy="861844"/>
          </a:xfrm>
          <a:prstGeom prst="snip1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solidFill>
                  <a:schemeClr val="tx1"/>
                </a:solidFill>
                <a:ea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Diccionario</a:t>
            </a:r>
          </a:p>
        </p:txBody>
      </p:sp>
    </p:spTree>
    <p:extLst>
      <p:ext uri="{BB962C8B-B14F-4D97-AF65-F5344CB8AC3E}">
        <p14:creationId xmlns:p14="http://schemas.microsoft.com/office/powerpoint/2010/main" val="17655334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48D25012-9F92-A86A-6BA6-1131A0090B86}"/>
              </a:ext>
            </a:extLst>
          </p:cNvPr>
          <p:cNvSpPr txBox="1">
            <a:spLocks/>
          </p:cNvSpPr>
          <p:nvPr/>
        </p:nvSpPr>
        <p:spPr>
          <a:xfrm>
            <a:off x="355406" y="480655"/>
            <a:ext cx="10515600" cy="8481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800">
                <a:solidFill>
                  <a:srgbClr val="FFF5EA"/>
                </a:solidFill>
                <a:latin typeface="Times New Roman"/>
                <a:ea typeface="+mj-lt"/>
                <a:cs typeface="+mj-lt"/>
              </a:rPr>
              <a:t>2.26 Diagrama de Despliegue </a:t>
            </a:r>
            <a:endParaRPr lang="es-ES">
              <a:solidFill>
                <a:srgbClr val="000000"/>
              </a:solidFill>
              <a:latin typeface="Times New Roman"/>
              <a:ea typeface="+mj-lt"/>
              <a:cs typeface="+mj-lt"/>
            </a:endParaRPr>
          </a:p>
        </p:txBody>
      </p:sp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2F30E8E7-4395-D117-2ED4-8DCD3F02F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478" y="1718702"/>
            <a:ext cx="10315575" cy="481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9375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48D25012-9F92-A86A-6BA6-1131A0090B86}"/>
              </a:ext>
            </a:extLst>
          </p:cNvPr>
          <p:cNvSpPr txBox="1">
            <a:spLocks/>
          </p:cNvSpPr>
          <p:nvPr/>
        </p:nvSpPr>
        <p:spPr>
          <a:xfrm>
            <a:off x="286133" y="480655"/>
            <a:ext cx="10515600" cy="8481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800">
                <a:solidFill>
                  <a:srgbClr val="FFF5EA"/>
                </a:solidFill>
                <a:latin typeface="Times New Roman"/>
                <a:ea typeface="+mj-lt"/>
                <a:cs typeface="+mj-lt"/>
              </a:rPr>
              <a:t>2.27 Mockups Navegable</a:t>
            </a:r>
          </a:p>
        </p:txBody>
      </p:sp>
      <p:pic>
        <p:nvPicPr>
          <p:cNvPr id="3" name="Imagen 2" descr="Captura de pantalla de un celular con la imagen de un gato&#10;&#10;Descripción generada automáticamente">
            <a:extLst>
              <a:ext uri="{FF2B5EF4-FFF2-40B4-BE49-F238E27FC236}">
                <a16:creationId xmlns:a16="http://schemas.microsoft.com/office/drawing/2014/main" id="{26B4A4AA-4B87-14A1-644F-6C37FA467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83" y="1553633"/>
            <a:ext cx="9376834" cy="5094817"/>
          </a:xfrm>
          <a:prstGeom prst="rect">
            <a:avLst/>
          </a:prstGeom>
        </p:spPr>
      </p:pic>
      <p:sp>
        <p:nvSpPr>
          <p:cNvPr id="6" name="Rectángulo: una sola esquina cortada 5">
            <a:extLst>
              <a:ext uri="{FF2B5EF4-FFF2-40B4-BE49-F238E27FC236}">
                <a16:creationId xmlns:a16="http://schemas.microsoft.com/office/drawing/2014/main" id="{18E62243-EC77-9AC2-9247-02713B9B0123}"/>
              </a:ext>
            </a:extLst>
          </p:cNvPr>
          <p:cNvSpPr/>
          <p:nvPr/>
        </p:nvSpPr>
        <p:spPr>
          <a:xfrm flipH="1">
            <a:off x="9993411" y="5665024"/>
            <a:ext cx="1408602" cy="629010"/>
          </a:xfrm>
          <a:prstGeom prst="snip1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solidFill>
                  <a:schemeClr val="tx1"/>
                </a:solidFill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Codigo</a:t>
            </a:r>
            <a:endParaRPr lang="es-ES">
              <a:solidFill>
                <a:schemeClr val="tx1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331483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48D25012-9F92-A86A-6BA6-1131A0090B86}"/>
              </a:ext>
            </a:extLst>
          </p:cNvPr>
          <p:cNvSpPr txBox="1">
            <a:spLocks/>
          </p:cNvSpPr>
          <p:nvPr/>
        </p:nvSpPr>
        <p:spPr>
          <a:xfrm>
            <a:off x="286133" y="480655"/>
            <a:ext cx="10515600" cy="8481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800">
                <a:solidFill>
                  <a:srgbClr val="FFF5EA"/>
                </a:solidFill>
                <a:latin typeface="Times New Roman"/>
                <a:ea typeface="+mj-lt"/>
                <a:cs typeface="+mj-lt"/>
              </a:rPr>
              <a:t>2.28 Repositorio</a:t>
            </a:r>
          </a:p>
        </p:txBody>
      </p:sp>
      <p:sp>
        <p:nvSpPr>
          <p:cNvPr id="6" name="Rectángulo: una sola esquina cortada 5">
            <a:extLst>
              <a:ext uri="{FF2B5EF4-FFF2-40B4-BE49-F238E27FC236}">
                <a16:creationId xmlns:a16="http://schemas.microsoft.com/office/drawing/2014/main" id="{EAF8A78D-7075-BAAA-6594-8C2EB97E1642}"/>
              </a:ext>
            </a:extLst>
          </p:cNvPr>
          <p:cNvSpPr/>
          <p:nvPr/>
        </p:nvSpPr>
        <p:spPr>
          <a:xfrm flipH="1">
            <a:off x="553078" y="5855524"/>
            <a:ext cx="1408602" cy="629010"/>
          </a:xfrm>
          <a:prstGeom prst="snip1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solidFill>
                  <a:schemeClr val="tx1"/>
                </a:solidFill>
                <a:ea typeface="Calibri"/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Repositorio</a:t>
            </a:r>
          </a:p>
        </p:txBody>
      </p:sp>
      <p:pic>
        <p:nvPicPr>
          <p:cNvPr id="2" name="Imagen 1" descr="Captura de pantalla de un celular&#10;&#10;Descripción generada automáticamente">
            <a:extLst>
              <a:ext uri="{FF2B5EF4-FFF2-40B4-BE49-F238E27FC236}">
                <a16:creationId xmlns:a16="http://schemas.microsoft.com/office/drawing/2014/main" id="{A2A04E6C-0708-04E5-53A8-7078F73D21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5882" y="1481667"/>
            <a:ext cx="8156652" cy="5259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2435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A01EB75E-8874-42DD-11A3-2D5CA1D23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2203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Panorámica</PresentationFormat>
  <Slides>42</Slides>
  <Notes>9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42</vt:i4>
      </vt:variant>
    </vt:vector>
  </HeadingPairs>
  <TitlesOfParts>
    <vt:vector size="43" baseType="lpstr">
      <vt:lpstr>Tema de Office</vt:lpstr>
      <vt:lpstr>Presentación de PowerPoint</vt:lpstr>
      <vt:lpstr>Tabla De Contenido </vt:lpstr>
      <vt:lpstr>Tabla De Contenido </vt:lpstr>
      <vt:lpstr>Presentación de PowerPoint</vt:lpstr>
      <vt:lpstr>1.1 Nombre de la empresa</vt:lpstr>
      <vt:lpstr>1.2 Misión y visión.</vt:lpstr>
      <vt:lpstr>1.3 Logo.</vt:lpstr>
      <vt:lpstr>1.4 Eslogan.</vt:lpstr>
      <vt:lpstr>Presentación de PowerPoint</vt:lpstr>
      <vt:lpstr>  2.1 Cliente</vt:lpstr>
      <vt:lpstr>  2.2 Nombre del proyecto</vt:lpstr>
      <vt:lpstr>  2.3. Objetivo General  </vt:lpstr>
      <vt:lpstr> 2.4 Objetivos Específicos </vt:lpstr>
      <vt:lpstr> 2.4 Objetivos Específicos </vt:lpstr>
      <vt:lpstr>2.5. Planteamiento Del Problema</vt:lpstr>
      <vt:lpstr> 2.6. Pregunta Problema </vt:lpstr>
      <vt:lpstr>2.7 Alcance Del Proyecto </vt:lpstr>
      <vt:lpstr>2.8. Justificación  </vt:lpstr>
      <vt:lpstr>2.9 Mapa De Procesos  </vt:lpstr>
      <vt:lpstr>2.10 BPMN  </vt:lpstr>
      <vt:lpstr>2.11 Técnicas de recolección de información  </vt:lpstr>
      <vt:lpstr>Técnicas de recolección de información  </vt:lpstr>
      <vt:lpstr>2.12 Requerimientos Funcionales  </vt:lpstr>
      <vt:lpstr>Requerimientos Funcionales  </vt:lpstr>
      <vt:lpstr>2.13 Requerimientos No Funcionales  </vt:lpstr>
      <vt:lpstr>Requerimientos No Funcionales 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Enrique Pedraza Sanchez</dc:creator>
  <cp:revision>22</cp:revision>
  <dcterms:created xsi:type="dcterms:W3CDTF">2020-10-01T23:51:28Z</dcterms:created>
  <dcterms:modified xsi:type="dcterms:W3CDTF">2024-11-22T13:03:13Z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