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468" r:id="rId2"/>
    <p:sldId id="498" r:id="rId3"/>
    <p:sldId id="542" r:id="rId4"/>
    <p:sldId id="522" r:id="rId5"/>
    <p:sldId id="516" r:id="rId6"/>
    <p:sldId id="517" r:id="rId7"/>
    <p:sldId id="518" r:id="rId8"/>
    <p:sldId id="519" r:id="rId9"/>
    <p:sldId id="521" r:id="rId10"/>
    <p:sldId id="509" r:id="rId11"/>
    <p:sldId id="523" r:id="rId12"/>
    <p:sldId id="502" r:id="rId13"/>
    <p:sldId id="508" r:id="rId14"/>
    <p:sldId id="531" r:id="rId15"/>
    <p:sldId id="507" r:id="rId16"/>
    <p:sldId id="506" r:id="rId17"/>
    <p:sldId id="505" r:id="rId18"/>
    <p:sldId id="504" r:id="rId19"/>
    <p:sldId id="510" r:id="rId20"/>
    <p:sldId id="511" r:id="rId21"/>
    <p:sldId id="514" r:id="rId22"/>
    <p:sldId id="520" r:id="rId23"/>
    <p:sldId id="524" r:id="rId24"/>
    <p:sldId id="528" r:id="rId25"/>
    <p:sldId id="529" r:id="rId26"/>
    <p:sldId id="526" r:id="rId27"/>
    <p:sldId id="525" r:id="rId28"/>
    <p:sldId id="527" r:id="rId29"/>
    <p:sldId id="538" r:id="rId30"/>
    <p:sldId id="541" r:id="rId31"/>
    <p:sldId id="534" r:id="rId32"/>
    <p:sldId id="535" r:id="rId33"/>
    <p:sldId id="532" r:id="rId34"/>
    <p:sldId id="537" r:id="rId35"/>
    <p:sldId id="533" r:id="rId36"/>
    <p:sldId id="539" r:id="rId37"/>
    <p:sldId id="536" r:id="rId38"/>
    <p:sldId id="540" r:id="rId39"/>
    <p:sldId id="543" r:id="rId40"/>
    <p:sldId id="544" r:id="rId41"/>
    <p:sldId id="530" r:id="rId42"/>
    <p:sldId id="264" r:id="rId4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A900"/>
    <a:srgbClr val="FFF5EA"/>
    <a:srgbClr val="38AA00"/>
    <a:srgbClr val="766363"/>
    <a:srgbClr val="00324D"/>
    <a:srgbClr val="FF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7CB5AF-532A-2E2E-6DC7-AD1381CF1ADC}" v="14" dt="2024-09-08T03:04:35.305"/>
    <p1510:client id="{6DDA3657-170D-01DB-D41D-6C1EC46E9756}" v="6" dt="2024-09-08T21:57:09.181"/>
    <p1510:client id="{74883AC3-F3F1-3602-8A32-1D0557118989}" v="7" dt="2024-09-08T23:57:44.711"/>
    <p1510:client id="{CF2B3F61-8B04-E4B1-F7DA-D840FD8C06A0}" v="11" dt="2024-09-08T04:25:29.733"/>
    <p1510:client id="{E185DD98-A8F3-0B5D-6FED-DF2E441F27BF}" v="5" dt="2024-09-09T15:43:54.979"/>
    <p1510:client id="{FDFEB8B6-1B7C-4E9A-9AD1-37405010FCF3}" v="18" dt="2024-09-08T23:02:19.2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78927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8520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253039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2303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69806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77070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07135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29988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7081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B25968F-984F-8BF4-4FF0-2432A9923E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7833" y="317431"/>
            <a:ext cx="811391" cy="7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8285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Patrón de fondo&#10;&#10;Descripción generada automáticamente">
            <a:extLst>
              <a:ext uri="{FF2B5EF4-FFF2-40B4-BE49-F238E27FC236}">
                <a16:creationId xmlns:a16="http://schemas.microsoft.com/office/drawing/2014/main" id="{EDE1298D-A4F7-F1E4-F1B3-3D2F5117E0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9B39820-C822-5D71-439D-76D8E95C16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54859" y="303050"/>
            <a:ext cx="855785" cy="83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3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7DFF890D-F3AC-9928-32A3-F179DB21A0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946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9/09/2024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2" r:id="rId11"/>
    <p:sldLayoutId id="2147483659" r:id="rId12"/>
    <p:sldLayoutId id="2147483663" r:id="rId13"/>
    <p:sldLayoutId id="2147483675" r:id="rId14"/>
    <p:sldLayoutId id="214748367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u:/g/personal/sdduran00_soy_sena_edu_co/EWv21yZ_zidIh6KpO7_3ydMB5W4gMZIbAzfWABBCHdhcIg?e=OUD9r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d/e/1FAIpQLSfjT8arooI34EkZaWKELd4ABYYvSCqv0u20yz5hEp5DYKXsRQ/viewform?usp=sharing" TargetMode="Externa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soysena-my.sharepoint.com/:w:/g/personal/lina_patriciar_soy_sena_edu_co/ER4Wpc1-EypMlW_-fxVhhpQBEsX6yfZu0RJJeZ9oqGzgVA?e=qCE8KT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Sis3yy9rcBMl617pfZ_XWcB5tV-k6MzrdmEWhU3w0UNlA?e=YNzhqN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oysena-my.sharepoint.com/:w:/g/personal/karen_calderon159_soy_sena_edu_co/EUW1HVyLkIZIpxiCkdinOHsBna7it2X7uIkfBAmJYzVifw?e=Ogaqk0" TargetMode="Externa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karen_calderon159_soy_sena_edu_co/EUW1HVyLkIZIpxiCkdinOHsBna7it2X7uIkfBAmJYzVifw?e=Ogaqk0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soysena-my.sharepoint.com/:w:/g/personal/karen_calderon159_soy_sena_edu_co/EUW1HVyLkIZIpxiCkdinOHsBna7it2X7uIkfBAmJYzVifw?e=Ogaqk0" TargetMode="Externa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karen_calderon159_soy_sena_edu_co/EUW1HVyLkIZIpxiCkdinOHsBna7it2X7uIkfBAmJYzVifw?e=Ogaqk0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Sis3yy9rcBMl617pfZ_XWcB5tV-k6MzrdmEWhU3w0UNlA?e=YNzhqN" TargetMode="External"/><Relationship Id="rId2" Type="http://schemas.openxmlformats.org/officeDocument/2006/relationships/hyperlink" Target="https://www.canva.com/design/DAF-7Ij_904/eD0Au_dldU9-C-pO1mPRJQ/edit?utm_content=DAF-7Ij_904&amp;utm_campaign=designshare&amp;utm_medium=link2&amp;utm_source=sharebutton" TargetMode="Externa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fxBhV3wJ_tEtWBxBObnH4wBaSivGPHOEL3vwhyGKThANw?e=6eLY3f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soysena-my.sharepoint.com/:w:/g/personal/karen_calderon159_soy_sena_edu_co/EWNZiIVaFwBIkJ2toLiAhOoB-ljBUMAyo4pseG7i6S7hKQ?e=bp2gSn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soysena-my.sharepoint.com/:w:/g/personal/karen_calderon159_soy_sena_edu_co/EWNZiIVaFwBIkJ2toLiAhOoB-ljBUMAyo4pseG7i6S7hKQ?e=bp2gSn" TargetMode="Externa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oysena-my.sharepoint.com/:w:/g/personal/sdduran00_soy_sena_edu_co/Ecp7kqxjpqVJk9rnwVuATtEBrgLu6gFBn5506vggpqc_9w?e=bZ1uhu" TargetMode="Externa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lucid.app/lucidchart/f77ed08d-96c1-449b-b750-2295db4ff72d/edit?viewport_loc=-524%2C89%2C4629%2C2129%2C.Q4MUjXso07N&amp;invitationId=inv_0c06357b-e158-4e59-9fd6-628a3b488fce" TargetMode="Externa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TGqT4ZOl1xAhxQ9nKZCubkBuZER1cemYMZOhC0mPzA17Q?e=FtMbGf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soysena-my.sharepoint.com/:i:/g/personal/sdduran00_soy_sena_edu_co/EYtlvV69q_9NqxfdxvghphEBchuKIM4Rk4lq36OSOp6zxQ?e=bBKi8w" TargetMode="Externa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f:/g/personal/lina_patriciar_soy_sena_edu_co/EqLa4nXS9YtNkQQc4k48zt8Bic5CRRyIU-WV5ASRzjcukA?e=fK9FeZ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x:/g/personal/lina_patriciar_soy_sena_edu_co/Eag7SalPe0dGpeIHJSqK5o4B9QZi6RCBiCu2xH-43QdbEw?e=vz0x1o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soysena-my.sharepoint.com/:f:/g/personal/lina_patriciar_soy_sena_edu_co/EkZbirDciVVFuGgbLer5yOMBtPbWszo6PnpHDcVeSO6IqQ?e=JDFeLO" TargetMode="Externa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hyperlink" Target="https://soysena-my.sharepoint.com/:i:/g/personal/sdduran00_soy_sena_edu_co/EW-c12T1fJtHpIS9viLz0IABHYpa_3JbZOcosDBNFsHQ3Q?e=ciNDCi" TargetMode="Externa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ravip-03/The-Future-Of-Systems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A4B7F0-F2D8-6E5B-A564-309DF1E1EE1F}"/>
              </a:ext>
            </a:extLst>
          </p:cNvPr>
          <p:cNvSpPr txBox="1"/>
          <p:nvPr/>
        </p:nvSpPr>
        <p:spPr>
          <a:xfrm>
            <a:off x="5467785" y="4972641"/>
            <a:ext cx="527304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Times New Roman"/>
                <a:ea typeface="Microsoft Sans Serif"/>
                <a:cs typeface="Calibri"/>
              </a:rPr>
              <a:t>Lina Patricia Rubio Rodriguez</a:t>
            </a:r>
          </a:p>
          <a:p>
            <a:r>
              <a:rPr lang="en-US" sz="2400">
                <a:latin typeface="Times New Roman"/>
                <a:ea typeface="Microsoft Sans Serif"/>
                <a:cs typeface="Calibri"/>
              </a:rPr>
              <a:t>Shara Daniela Duran Martinez 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0A6DE12-8A7F-1750-16BD-35BB5DD6781F}"/>
              </a:ext>
            </a:extLst>
          </p:cNvPr>
          <p:cNvSpPr txBox="1"/>
          <p:nvPr/>
        </p:nvSpPr>
        <p:spPr>
          <a:xfrm>
            <a:off x="2966758" y="2337283"/>
            <a:ext cx="6747833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D" sz="4800" b="1">
                <a:latin typeface="Times New Roman"/>
                <a:ea typeface="Calibri"/>
                <a:cs typeface="Calibri"/>
              </a:rPr>
              <a:t>The Future Of Systems</a:t>
            </a:r>
            <a:endParaRPr lang="en-ID" sz="4800" b="1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79616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Tabla De Contenido 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5F0BF55-0B17-43AC-2344-8B1505517853}"/>
              </a:ext>
            </a:extLst>
          </p:cNvPr>
          <p:cNvSpPr txBox="1"/>
          <p:nvPr/>
        </p:nvSpPr>
        <p:spPr>
          <a:xfrm>
            <a:off x="59202" y="1383716"/>
            <a:ext cx="5043314" cy="526297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14350" indent="-514350">
              <a:buAutoNum type="arabicPeriod"/>
            </a:pPr>
            <a:r>
              <a:rPr lang="es-CO" sz="2400" b="1">
                <a:latin typeface="Times New Roman"/>
                <a:cs typeface="Times New Roman"/>
              </a:rPr>
              <a:t>EMPRESA</a:t>
            </a:r>
          </a:p>
          <a:p>
            <a:r>
              <a:rPr lang="es-CO" sz="2400">
                <a:latin typeface="Times New Roman"/>
                <a:cs typeface="Times New Roman"/>
              </a:rPr>
              <a:t>   1.1 Nombre de la empresa.</a:t>
            </a:r>
            <a:endParaRPr lang="es-CO" sz="2400">
              <a:latin typeface="Calibri" panose="020F0502020204030204"/>
              <a:ea typeface="Calibri"/>
              <a:cs typeface="Calibri" panose="020F0502020204030204"/>
            </a:endParaRPr>
          </a:p>
          <a:p>
            <a:r>
              <a:rPr lang="es-CO" sz="2400">
                <a:latin typeface="Times New Roman"/>
                <a:ea typeface="Calibri" panose="020F0502020204030204"/>
                <a:cs typeface="Times New Roman"/>
              </a:rPr>
              <a:t>   1.2 Misión y Visión.</a:t>
            </a:r>
          </a:p>
          <a:p>
            <a:r>
              <a:rPr lang="es-CO" sz="2400">
                <a:latin typeface="Times New Roman"/>
                <a:cs typeface="Times New Roman"/>
              </a:rPr>
              <a:t>   1.3 Logo.</a:t>
            </a:r>
          </a:p>
          <a:p>
            <a:r>
              <a:rPr lang="es-CO" sz="2400">
                <a:latin typeface="Times New Roman"/>
                <a:cs typeface="Times New Roman"/>
              </a:rPr>
              <a:t>   1.4 Eslogan.</a:t>
            </a:r>
          </a:p>
          <a:p>
            <a:r>
              <a:rPr lang="es-CO" sz="2400" b="1">
                <a:latin typeface="Times New Roman"/>
                <a:cs typeface="Times New Roman"/>
              </a:rPr>
              <a:t>2.</a:t>
            </a:r>
            <a:r>
              <a:rPr lang="es-CO" sz="2400">
                <a:latin typeface="Times New Roman"/>
                <a:cs typeface="Times New Roman"/>
              </a:rPr>
              <a:t>   </a:t>
            </a:r>
            <a:r>
              <a:rPr lang="es-CO" sz="2400" b="1">
                <a:latin typeface="Times New Roman"/>
                <a:cs typeface="Times New Roman"/>
              </a:rPr>
              <a:t>PROYECTO</a:t>
            </a:r>
          </a:p>
          <a:p>
            <a:r>
              <a:rPr lang="es-CO" sz="2400" b="1">
                <a:latin typeface="Times New Roman"/>
                <a:cs typeface="Times New Roman"/>
              </a:rPr>
              <a:t>   </a:t>
            </a:r>
            <a:r>
              <a:rPr lang="es-CO" sz="2400">
                <a:latin typeface="Times New Roman"/>
                <a:cs typeface="Times New Roman"/>
              </a:rPr>
              <a:t>2.1</a:t>
            </a:r>
            <a:r>
              <a:rPr lang="es-CO" sz="2400" b="1">
                <a:latin typeface="Times New Roman"/>
                <a:cs typeface="Times New Roman"/>
              </a:rPr>
              <a:t> </a:t>
            </a:r>
            <a:r>
              <a:rPr lang="es-CO" sz="2400">
                <a:latin typeface="Times New Roman"/>
                <a:cs typeface="Times New Roman"/>
              </a:rPr>
              <a:t>Cliente</a:t>
            </a:r>
          </a:p>
          <a:p>
            <a:r>
              <a:rPr lang="es-CO" sz="2400">
                <a:latin typeface="Times New Roman"/>
                <a:cs typeface="Times New Roman"/>
              </a:rPr>
              <a:t>   2.2 Nombre del proyecto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  2.3 Objetivo General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2.4 Objetivos específicos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2.5 Planteamiento del problema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2.6 Pregunta problema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2.7 Alcance del proyecto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2.8 Justificación </a:t>
            </a:r>
            <a:endParaRPr lang="en-US" sz="2400">
              <a:latin typeface="Times New Roman"/>
              <a:cs typeface="Times New Roman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8A1E1D4-3240-5D0F-3C79-B4A42A5D016A}"/>
              </a:ext>
            </a:extLst>
          </p:cNvPr>
          <p:cNvSpPr txBox="1"/>
          <p:nvPr/>
        </p:nvSpPr>
        <p:spPr>
          <a:xfrm>
            <a:off x="5334826" y="1384971"/>
            <a:ext cx="7259201" cy="526297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>
                <a:latin typeface="Times New Roman"/>
                <a:cs typeface="Times New Roman"/>
              </a:rPr>
              <a:t>2.9 Mapa de procesos</a:t>
            </a:r>
            <a:endParaRPr lang="es-ES" sz="2400">
              <a:ea typeface="Calibri"/>
              <a:cs typeface="Calibri"/>
            </a:endParaRPr>
          </a:p>
          <a:p>
            <a:r>
              <a:rPr lang="es-CO" sz="2400">
                <a:latin typeface="Times New Roman"/>
                <a:cs typeface="Times New Roman"/>
              </a:rPr>
              <a:t>2.10 BPMN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2.11 Técnicas de recolección de información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2.12 Requerimientos funcionales 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2.13 Requerimientos no funcionales</a:t>
            </a:r>
            <a:endParaRPr lang="es-CO" sz="2400">
              <a:latin typeface="Times New Roman"/>
              <a:ea typeface="Calibri" panose="020F0502020204030204"/>
              <a:cs typeface="Times New Roman"/>
            </a:endParaRPr>
          </a:p>
          <a:p>
            <a:r>
              <a:rPr lang="es-CO" sz="2400">
                <a:solidFill>
                  <a:srgbClr val="000000"/>
                </a:solidFill>
                <a:latin typeface="Times New Roman"/>
                <a:cs typeface="Times New Roman"/>
              </a:rPr>
              <a:t>2.14 Mapa mental de la página web</a:t>
            </a:r>
            <a:endParaRPr lang="es-CO" sz="2400">
              <a:solidFill>
                <a:srgbClr val="000000"/>
              </a:solidFill>
              <a:latin typeface="Calibri" panose="020F0502020204030204"/>
              <a:cs typeface="Calibri" panose="020F0502020204030204"/>
            </a:endParaRPr>
          </a:p>
          <a:p>
            <a:r>
              <a:rPr lang="es-CO" sz="2400">
                <a:latin typeface="Times New Roman"/>
                <a:cs typeface="Times New Roman"/>
              </a:rPr>
              <a:t>2.15 Mockups</a:t>
            </a:r>
          </a:p>
          <a:p>
            <a:r>
              <a:rPr lang="es-CO" sz="2400">
                <a:latin typeface="Times New Roman"/>
                <a:cs typeface="Times New Roman"/>
              </a:rPr>
              <a:t>2.16 Ficha Técnica</a:t>
            </a:r>
          </a:p>
          <a:p>
            <a:r>
              <a:rPr lang="es-CO" sz="2400">
                <a:latin typeface="Times New Roman"/>
                <a:cs typeface="Times New Roman"/>
              </a:rPr>
              <a:t>2.17 Propuesta Técnica</a:t>
            </a:r>
          </a:p>
          <a:p>
            <a:r>
              <a:rPr lang="es-CO" sz="2400">
                <a:latin typeface="Times New Roman"/>
                <a:cs typeface="Times New Roman"/>
              </a:rPr>
              <a:t>2.18 Modelo Entidad Relación</a:t>
            </a:r>
          </a:p>
          <a:p>
            <a:r>
              <a:rPr lang="es-CO" sz="2400">
                <a:latin typeface="Times New Roman"/>
                <a:cs typeface="Times New Roman"/>
              </a:rPr>
              <a:t>2.19 Modelo Relacional</a:t>
            </a:r>
          </a:p>
          <a:p>
            <a:r>
              <a:rPr lang="es-CO" sz="2400">
                <a:latin typeface="Times New Roman"/>
                <a:cs typeface="Times New Roman"/>
              </a:rPr>
              <a:t>2.20 Normalización</a:t>
            </a:r>
          </a:p>
          <a:p>
            <a:r>
              <a:rPr lang="es-CO" sz="2400">
                <a:latin typeface="Times New Roman"/>
                <a:cs typeface="Times New Roman"/>
              </a:rPr>
              <a:t>2.21 Base de datos</a:t>
            </a:r>
          </a:p>
          <a:p>
            <a:r>
              <a:rPr lang="es-CO" sz="2400">
                <a:latin typeface="Times New Roman"/>
                <a:cs typeface="Times New Roman"/>
              </a:rPr>
              <a:t>2.22 Diccionario Bases de Datos</a:t>
            </a:r>
          </a:p>
        </p:txBody>
      </p:sp>
    </p:spTree>
    <p:extLst>
      <p:ext uri="{BB962C8B-B14F-4D97-AF65-F5344CB8AC3E}">
        <p14:creationId xmlns:p14="http://schemas.microsoft.com/office/powerpoint/2010/main" val="2099732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Tabla De Contenido 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8A1E1D4-3240-5D0F-3C79-B4A42A5D016A}"/>
              </a:ext>
            </a:extLst>
          </p:cNvPr>
          <p:cNvSpPr txBox="1"/>
          <p:nvPr/>
        </p:nvSpPr>
        <p:spPr>
          <a:xfrm>
            <a:off x="193621" y="1605308"/>
            <a:ext cx="6666535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>
                <a:latin typeface="Times New Roman"/>
                <a:cs typeface="Times New Roman"/>
              </a:rPr>
              <a:t>2.23 Diagrama Casos de Uso</a:t>
            </a:r>
            <a:endParaRPr lang="es-ES"/>
          </a:p>
          <a:p>
            <a:r>
              <a:rPr lang="es-CO" sz="2400">
                <a:latin typeface="Times New Roman"/>
                <a:cs typeface="Times New Roman"/>
              </a:rPr>
              <a:t>2.24 Especificación Casos de Uso</a:t>
            </a:r>
            <a:endParaRPr lang="es-CO"/>
          </a:p>
          <a:p>
            <a:r>
              <a:rPr lang="es-CO" sz="2400">
                <a:latin typeface="Times New Roman"/>
                <a:cs typeface="Times New Roman"/>
              </a:rPr>
              <a:t>2.25 Diagrama de Clases UML</a:t>
            </a:r>
          </a:p>
          <a:p>
            <a:r>
              <a:rPr lang="es-CO" sz="2400">
                <a:latin typeface="Times New Roman"/>
                <a:cs typeface="Times New Roman"/>
              </a:rPr>
              <a:t>2.26 Diagrama de Despliegue </a:t>
            </a:r>
          </a:p>
          <a:p>
            <a:r>
              <a:rPr lang="es-CO" sz="2400">
                <a:latin typeface="Times New Roman"/>
                <a:cs typeface="Times New Roman"/>
              </a:rPr>
              <a:t>2.27 Mockups Navegable</a:t>
            </a:r>
          </a:p>
          <a:p>
            <a:r>
              <a:rPr lang="es-CO" sz="2400">
                <a:solidFill>
                  <a:srgbClr val="000000"/>
                </a:solidFill>
                <a:latin typeface="Times New Roman"/>
                <a:cs typeface="Times New Roman"/>
              </a:rPr>
              <a:t>2.28 Mockups Navegable</a:t>
            </a:r>
            <a:endParaRPr lang="es-CO"/>
          </a:p>
          <a:p>
            <a:r>
              <a:rPr lang="es-CO" sz="2400">
                <a:latin typeface="Times New Roman"/>
                <a:cs typeface="Times New Roman"/>
              </a:rPr>
              <a:t>2.29 Repositorio</a:t>
            </a:r>
          </a:p>
          <a:p>
            <a:endParaRPr lang="es-CO" sz="24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6829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A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4642D046-C74B-000B-CDC3-550205B20637}"/>
              </a:ext>
            </a:extLst>
          </p:cNvPr>
          <p:cNvSpPr txBox="1"/>
          <p:nvPr/>
        </p:nvSpPr>
        <p:spPr>
          <a:xfrm>
            <a:off x="3322699" y="2732921"/>
            <a:ext cx="713361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143000" indent="-1143000">
              <a:buAutoNum type="arabicPeriod"/>
            </a:pPr>
            <a:r>
              <a:rPr lang="es-ES" sz="7200" b="1">
                <a:solidFill>
                  <a:schemeClr val="bg1"/>
                </a:solidFill>
                <a:cs typeface="Calibri"/>
              </a:rPr>
              <a:t>EMPRESA</a:t>
            </a: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CA3D8F2-B603-96C5-035E-3C419A966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080" y="936324"/>
            <a:ext cx="1736067" cy="172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83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1.1 Nombre de la empresa</a:t>
            </a:r>
            <a:endParaRPr lang="es-ES">
              <a:solidFill>
                <a:schemeClr val="bg1"/>
              </a:solidFill>
              <a:cs typeface="Calibri Light" panose="020F0302020204030204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236981B-FAF3-954B-BB60-074179A857E3}"/>
              </a:ext>
            </a:extLst>
          </p:cNvPr>
          <p:cNvSpPr txBox="1"/>
          <p:nvPr/>
        </p:nvSpPr>
        <p:spPr>
          <a:xfrm>
            <a:off x="677334" y="3312584"/>
            <a:ext cx="11133665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s-ES" sz="96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es-ES" sz="960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 future </a:t>
            </a:r>
            <a:r>
              <a:rPr lang="es-ES" sz="96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of</a:t>
            </a:r>
            <a:r>
              <a:rPr lang="es-ES" sz="960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 </a:t>
            </a:r>
            <a:r>
              <a:rPr lang="es-ES" sz="96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systems</a:t>
            </a:r>
            <a:endParaRPr lang="es-ES" sz="9600" err="1">
              <a:latin typeface="Times New Rom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5053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1.2 Misión y visión.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99C88B6-3B0F-34BA-F30F-913D5912A90F}"/>
              </a:ext>
            </a:extLst>
          </p:cNvPr>
          <p:cNvSpPr txBox="1"/>
          <p:nvPr/>
        </p:nvSpPr>
        <p:spPr>
          <a:xfrm>
            <a:off x="905373" y="2539999"/>
            <a:ext cx="4376307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Desarrollar aplicativos webs funcionales que sean útiles, que contengan la información clara, necesaria y adecuada para todo tipo de público para que nos podamos expandir a un mercado extenso de aplicativos webs.</a:t>
            </a:r>
            <a:endParaRPr lang="es-ES" sz="2800">
              <a:cs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276B65F-1CBE-32AE-CD2B-529E4DED510A}"/>
              </a:ext>
            </a:extLst>
          </p:cNvPr>
          <p:cNvSpPr txBox="1"/>
          <p:nvPr/>
        </p:nvSpPr>
        <p:spPr>
          <a:xfrm>
            <a:off x="6822256" y="2540000"/>
            <a:ext cx="537772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La empresa “</a:t>
            </a:r>
            <a:r>
              <a:rPr lang="es-ES" sz="280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 Future </a:t>
            </a:r>
            <a:r>
              <a:rPr lang="es-ES" sz="2800" err="1">
                <a:solidFill>
                  <a:srgbClr val="000000"/>
                </a:solidFill>
                <a:ea typeface="+mn-lt"/>
                <a:cs typeface="+mn-lt"/>
              </a:rPr>
              <a:t>Of</a:t>
            </a:r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s-ES" sz="2800" err="1">
                <a:solidFill>
                  <a:srgbClr val="000000"/>
                </a:solidFill>
                <a:ea typeface="+mn-lt"/>
                <a:cs typeface="+mn-lt"/>
              </a:rPr>
              <a:t>Systems</a:t>
            </a:r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” tiene como objetivo en 10 años ser una empresa reconocida nacional e internacionalmente teniendo buenos resultados y reseñas positivas de clientes anteriores, también poder brindar una oportunidad laboral para todo ciudadano.</a:t>
            </a:r>
            <a:endParaRPr lang="es-ES" sz="2800"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DC49F1D-F631-8176-8AC0-AE4CC5E7F399}"/>
              </a:ext>
            </a:extLst>
          </p:cNvPr>
          <p:cNvSpPr txBox="1"/>
          <p:nvPr/>
        </p:nvSpPr>
        <p:spPr>
          <a:xfrm>
            <a:off x="2370666" y="1979084"/>
            <a:ext cx="130414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2800" b="1">
                <a:cs typeface="Calibri"/>
              </a:rPr>
              <a:t>Misión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CBA7E50-4DA5-A45E-DA0F-007965688369}"/>
              </a:ext>
            </a:extLst>
          </p:cNvPr>
          <p:cNvSpPr txBox="1"/>
          <p:nvPr/>
        </p:nvSpPr>
        <p:spPr>
          <a:xfrm>
            <a:off x="8297332" y="1979083"/>
            <a:ext cx="111125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2800" b="1">
                <a:cs typeface="Calibri"/>
              </a:rPr>
              <a:t>Visión</a:t>
            </a:r>
          </a:p>
        </p:txBody>
      </p:sp>
    </p:spTree>
    <p:extLst>
      <p:ext uri="{BB962C8B-B14F-4D97-AF65-F5344CB8AC3E}">
        <p14:creationId xmlns:p14="http://schemas.microsoft.com/office/powerpoint/2010/main" val="3239632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1.3 Logo.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5A0641F-1FE1-4B76-482E-21CECBD46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713" y="1681692"/>
            <a:ext cx="4791075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781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1.4 Eslogan.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1C2C6E7-9E10-4F07-47F3-D7999F5132B4}"/>
              </a:ext>
            </a:extLst>
          </p:cNvPr>
          <p:cNvSpPr txBox="1"/>
          <p:nvPr/>
        </p:nvSpPr>
        <p:spPr>
          <a:xfrm>
            <a:off x="2849912" y="2758855"/>
            <a:ext cx="6474203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0"/>
              <a:t>“El futuro de tu empresa está en nuestras manos”</a:t>
            </a:r>
          </a:p>
        </p:txBody>
      </p:sp>
    </p:spTree>
    <p:extLst>
      <p:ext uri="{BB962C8B-B14F-4D97-AF65-F5344CB8AC3E}">
        <p14:creationId xmlns:p14="http://schemas.microsoft.com/office/powerpoint/2010/main" val="3309352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A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4642D046-C74B-000B-CDC3-550205B20637}"/>
              </a:ext>
            </a:extLst>
          </p:cNvPr>
          <p:cNvSpPr txBox="1"/>
          <p:nvPr/>
        </p:nvSpPr>
        <p:spPr>
          <a:xfrm>
            <a:off x="3466473" y="2747298"/>
            <a:ext cx="713361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200" b="1">
                <a:solidFill>
                  <a:schemeClr val="bg1"/>
                </a:solidFill>
                <a:cs typeface="Calibri"/>
              </a:rPr>
              <a:t>2. PROYECTO</a:t>
            </a: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CA3D8F2-B603-96C5-035E-3C419A966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080" y="936324"/>
            <a:ext cx="1736067" cy="172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302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66D04A5A-19A9-0ACE-6D0F-5E02EDC9D1DE}"/>
              </a:ext>
            </a:extLst>
          </p:cNvPr>
          <p:cNvSpPr txBox="1"/>
          <p:nvPr/>
        </p:nvSpPr>
        <p:spPr>
          <a:xfrm>
            <a:off x="1985382" y="1811728"/>
            <a:ext cx="8206856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7200">
                <a:latin typeface="Times New Roman"/>
                <a:cs typeface="Times New Roman"/>
              </a:rPr>
              <a:t>El Escondite Animal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2E6F1CF-C64D-CB82-1478-686F9F9BAF5F}"/>
              </a:ext>
            </a:extLst>
          </p:cNvPr>
          <p:cNvCxnSpPr>
            <a:cxnSpLocks/>
          </p:cNvCxnSpPr>
          <p:nvPr/>
        </p:nvCxnSpPr>
        <p:spPr>
          <a:xfrm>
            <a:off x="5227899" y="3321934"/>
            <a:ext cx="1736203" cy="0"/>
          </a:xfrm>
          <a:prstGeom prst="line">
            <a:avLst/>
          </a:prstGeom>
          <a:ln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9896E8B4-453C-7E26-D038-59933D4B744F}"/>
              </a:ext>
            </a:extLst>
          </p:cNvPr>
          <p:cNvSpPr txBox="1"/>
          <p:nvPr/>
        </p:nvSpPr>
        <p:spPr>
          <a:xfrm>
            <a:off x="4168816" y="3463724"/>
            <a:ext cx="385436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1600">
                <a:latin typeface="Work Sans Light"/>
              </a:rPr>
              <a:t>Tienda de Mascotas.</a:t>
            </a:r>
          </a:p>
          <a:p>
            <a:pPr algn="ctr"/>
            <a:r>
              <a:rPr lang="es-CO" sz="1600">
                <a:latin typeface="Work Sans Light"/>
              </a:rPr>
              <a:t>Dueña: Paola Sánchez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" y="174625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  2.1 Cliente</a:t>
            </a:r>
          </a:p>
        </p:txBody>
      </p:sp>
      <p:pic>
        <p:nvPicPr>
          <p:cNvPr id="5" name="Imagen 4" descr="Imagen que contiene Texto&#10;&#10;Descripción generada automáticamente">
            <a:extLst>
              <a:ext uri="{FF2B5EF4-FFF2-40B4-BE49-F238E27FC236}">
                <a16:creationId xmlns:a16="http://schemas.microsoft.com/office/drawing/2014/main" id="{46F74091-19C5-34A2-C6CF-1865280AF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488" y="4053417"/>
            <a:ext cx="3163359" cy="271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061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66D04A5A-19A9-0ACE-6D0F-5E02EDC9D1DE}"/>
              </a:ext>
            </a:extLst>
          </p:cNvPr>
          <p:cNvSpPr txBox="1"/>
          <p:nvPr/>
        </p:nvSpPr>
        <p:spPr>
          <a:xfrm>
            <a:off x="1525306" y="2444332"/>
            <a:ext cx="9256403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4000" b="1">
                <a:latin typeface="Times New Roman"/>
                <a:cs typeface="Times New Roman"/>
              </a:rPr>
              <a:t>Sistema de Gestión de Productos e inventario para la Tienda "El Escondite Animal"</a:t>
            </a:r>
            <a:endParaRPr lang="es-CO" sz="4000">
              <a:latin typeface="Times New Roman"/>
              <a:cs typeface="Times New Roman"/>
            </a:endParaRPr>
          </a:p>
          <a:p>
            <a:pPr algn="ctr"/>
            <a:endParaRPr lang="es-CO" sz="7200">
              <a:latin typeface="Times New Roman"/>
              <a:cs typeface="Times New Roman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2E6F1CF-C64D-CB82-1478-686F9F9BAF5F}"/>
              </a:ext>
            </a:extLst>
          </p:cNvPr>
          <p:cNvCxnSpPr>
            <a:cxnSpLocks/>
          </p:cNvCxnSpPr>
          <p:nvPr/>
        </p:nvCxnSpPr>
        <p:spPr>
          <a:xfrm>
            <a:off x="5229297" y="4289210"/>
            <a:ext cx="1736203" cy="0"/>
          </a:xfrm>
          <a:prstGeom prst="line">
            <a:avLst/>
          </a:prstGeom>
          <a:ln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" y="174625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  2.2 Nombre del proyecto</a:t>
            </a:r>
          </a:p>
        </p:txBody>
      </p:sp>
    </p:spTree>
    <p:extLst>
      <p:ext uri="{BB962C8B-B14F-4D97-AF65-F5344CB8AC3E}">
        <p14:creationId xmlns:p14="http://schemas.microsoft.com/office/powerpoint/2010/main" val="1521194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2.3.</a:t>
            </a:r>
            <a:r>
              <a:rPr lang="es-CO" sz="4800">
                <a:solidFill>
                  <a:srgbClr val="FFF5EA"/>
                </a:solidFill>
                <a:latin typeface="Times New Roman"/>
                <a:ea typeface="Calibri Light"/>
                <a:cs typeface="Times New Roman"/>
              </a:rPr>
              <a:t> Objetivo </a:t>
            </a: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General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02075" y="2162148"/>
            <a:ext cx="11399520" cy="32008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s-CO" sz="3600">
                <a:latin typeface="Times New Roman"/>
                <a:ea typeface="+mn-lt"/>
                <a:cs typeface="Times New Roman"/>
              </a:rPr>
              <a:t>Desarrollar un aplicativo web que incluya un sistema de información, venta e inventario de los productos que le pertenecen a la tienda para mascotas “el escondite animal”. </a:t>
            </a:r>
            <a:endParaRPr lang="es-CO" sz="36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pPr marL="342900" indent="-342900">
              <a:buFont typeface="Arial,Sans-Serif"/>
              <a:buChar char="•"/>
            </a:pPr>
            <a:endParaRPr lang="es-CO" sz="22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algn="l"/>
            <a:endParaRPr lang="es-ES" sz="3600">
              <a:latin typeface="Times New Roman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74888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2.4 Objetivos Específicos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84361" y="1372935"/>
            <a:ext cx="11399520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,Sans-Serif"/>
              <a:buChar char="•"/>
            </a:pPr>
            <a:r>
              <a:rPr lang="es-CO" sz="3200">
                <a:latin typeface="Times New Roman"/>
                <a:ea typeface="+mn-lt"/>
                <a:cs typeface="Times New Roman"/>
              </a:rPr>
              <a:t>Crear un sistema de inventario que permita al administrador tener un control completo sobre los productos disponibles. Esto incluye la capacidad de visualizar, editar, eliminar o agregar productos según sea necesario.</a:t>
            </a:r>
            <a:endParaRPr lang="en-US" sz="32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pPr marL="342900" indent="-342900">
              <a:buFont typeface="Arial,Sans-Serif"/>
              <a:buChar char="•"/>
            </a:pPr>
            <a:r>
              <a:rPr lang="es-CO" sz="3200">
                <a:latin typeface="Times New Roman"/>
                <a:ea typeface="+mn-lt"/>
                <a:cs typeface="Times New Roman"/>
              </a:rPr>
              <a:t>Desarrollar un sistema de información público que consolide los datos proporcionados por el inventario de la tienda de mascotas.</a:t>
            </a:r>
            <a:endParaRPr lang="en-US" sz="32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pPr marL="342900" indent="-342900">
              <a:buFont typeface="Arial,Sans-Serif"/>
              <a:buChar char="•"/>
            </a:pPr>
            <a:r>
              <a:rPr lang="es-CO" sz="3200">
                <a:latin typeface="Times New Roman"/>
                <a:ea typeface="+mn-lt"/>
                <a:cs typeface="Times New Roman"/>
              </a:rPr>
              <a:t>Integrar la funcionalidad del carrito de compras para brindar a los clientes una experiencia de compra virtual intuitiva y sin complicaciones.</a:t>
            </a:r>
            <a:endParaRPr lang="en-US" sz="32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endParaRPr lang="es-ES" sz="3600">
              <a:latin typeface="Times New Roman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3791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2.4 Objetivos Específicos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84361" y="1372935"/>
            <a:ext cx="11399520" cy="57246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s-CO" sz="2800">
                <a:latin typeface="Times New Roman"/>
                <a:ea typeface="+mn-lt"/>
                <a:cs typeface="Times New Roman"/>
              </a:rPr>
              <a:t>Implementar medidas de seguridad robustas para proteger la integridad y confidencialidad de los datos del inventario, asegurando que solo el personal autorizado tenga acceso a la información relevante.</a:t>
            </a:r>
            <a:endParaRPr lang="en-US" sz="28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s-CO" sz="2800">
                <a:latin typeface="Times New Roman"/>
                <a:ea typeface="+mn-lt"/>
                <a:cs typeface="Times New Roman"/>
              </a:rPr>
              <a:t>Integrar funcionalidades de generación de informes periódicos sobre el estado del inventario, tendencias de ventas, productos más populares, y cualquier otra métrica relevante para la toma de decisiones gerenciales.</a:t>
            </a:r>
            <a:endParaRPr lang="en-US" sz="28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s-CO" sz="2800">
                <a:latin typeface="Times New Roman"/>
                <a:ea typeface="+mn-lt"/>
                <a:cs typeface="Times New Roman"/>
              </a:rPr>
              <a:t>Establecer un sistema de gestión de devoluciones que facilite el procesamiento eficiente de devoluciones de productos por parte de los clientes, actualizando automáticamente los niveles de inventario y gestionando los reembolsos correspondientes.</a:t>
            </a:r>
          </a:p>
          <a:p>
            <a:pPr marL="342900" indent="-342900">
              <a:buFont typeface="Arial,Sans-Serif"/>
              <a:buChar char="•"/>
            </a:pPr>
            <a:endParaRPr lang="es-CO" sz="22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algn="l"/>
            <a:endParaRPr lang="es-ES" sz="3600">
              <a:latin typeface="Times New Roman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76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2.5. Planteamiento Del Problema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92789" y="2107721"/>
            <a:ext cx="11399520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600">
                <a:latin typeface="Times New Roman"/>
                <a:ea typeface="+mn-lt"/>
                <a:cs typeface="+mn-lt"/>
              </a:rPr>
              <a:t>La tienda "El Escondite Animal" le hace falta un sitio web funcional, lo que limita su visibilidad y reconocimiento. Esta falta de presencia en línea resulta en ventas reducidas. Además, la ausencia de un sistema de inventario organizado que conlleva a compras excesivas y desordenadas, ya que la tienda carece de información precisa sobre sus productos.</a:t>
            </a:r>
            <a:endParaRPr lang="en-US" sz="3600">
              <a:solidFill>
                <a:srgbClr val="808080"/>
              </a:solidFill>
              <a:latin typeface="Times New Roman"/>
              <a:ea typeface="+mn-lt"/>
              <a:cs typeface="+mn-lt"/>
            </a:endParaRPr>
          </a:p>
          <a:p>
            <a:pPr algn="l"/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9676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2.6. Pregunta Problema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02074" y="2434293"/>
            <a:ext cx="1139952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4400">
                <a:latin typeface="Times New Roman"/>
                <a:ea typeface="+mn-lt"/>
                <a:cs typeface="Times New Roman"/>
              </a:rPr>
              <a:t>¿Cómo un aplicativo web puede facilitar la visualización de la tienda, junto con su compra y venta de los productos para mascotas?</a:t>
            </a:r>
            <a:endParaRPr lang="es-ES" sz="44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endParaRPr lang="es-ES" sz="3600">
              <a:solidFill>
                <a:srgbClr val="000000"/>
              </a:solidFill>
              <a:latin typeface="Times New Roman"/>
              <a:ea typeface="+mn-lt"/>
              <a:cs typeface="+mn-lt"/>
            </a:endParaRPr>
          </a:p>
          <a:p>
            <a:pPr algn="l"/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85589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>
            <a:normAutofit/>
          </a:bodyPr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2.7. Justificación</a:t>
            </a:r>
            <a:endParaRPr lang="en-U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39873" y="1631471"/>
            <a:ext cx="11399520" cy="83099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600">
                <a:latin typeface="Times New Roman"/>
                <a:ea typeface="+mn-lt"/>
                <a:cs typeface="+mn-lt"/>
              </a:rPr>
              <a:t>La señora Paola Sánchez busca desarrollar un aplicativo web con la empresa "</a:t>
            </a:r>
            <a:r>
              <a:rPr lang="es-ES" sz="3600" err="1">
                <a:latin typeface="Times New Roman"/>
                <a:ea typeface="+mn-lt"/>
                <a:cs typeface="+mn-lt"/>
              </a:rPr>
              <a:t>The</a:t>
            </a:r>
            <a:r>
              <a:rPr lang="es-ES" sz="3600">
                <a:latin typeface="Times New Roman"/>
                <a:ea typeface="+mn-lt"/>
                <a:cs typeface="+mn-lt"/>
              </a:rPr>
              <a:t> Future </a:t>
            </a:r>
            <a:r>
              <a:rPr lang="es-ES" sz="3600" err="1">
                <a:latin typeface="Times New Roman"/>
                <a:ea typeface="+mn-lt"/>
                <a:cs typeface="+mn-lt"/>
              </a:rPr>
              <a:t>Of</a:t>
            </a:r>
            <a:r>
              <a:rPr lang="es-ES" sz="3600">
                <a:latin typeface="Times New Roman"/>
                <a:ea typeface="+mn-lt"/>
                <a:cs typeface="+mn-lt"/>
              </a:rPr>
              <a:t> </a:t>
            </a:r>
            <a:r>
              <a:rPr lang="es-ES" sz="3600" err="1">
                <a:latin typeface="Times New Roman"/>
                <a:ea typeface="+mn-lt"/>
                <a:cs typeface="+mn-lt"/>
              </a:rPr>
              <a:t>Systems</a:t>
            </a:r>
            <a:r>
              <a:rPr lang="es-ES" sz="3600">
                <a:latin typeface="Times New Roman"/>
                <a:ea typeface="+mn-lt"/>
                <a:cs typeface="+mn-lt"/>
              </a:rPr>
              <a:t>" para optimizar las ventas y mejorar la publicidad de su tienda. Esto permitirá alcanzar un público más amplio y fidelizar a los clientes.</a:t>
            </a:r>
          </a:p>
          <a:p>
            <a:endParaRPr lang="es-ES" sz="2400">
              <a:latin typeface="Times New Roman"/>
              <a:cs typeface="Times New Roman"/>
            </a:endParaRPr>
          </a:p>
          <a:p>
            <a:r>
              <a:rPr lang="es-ES" sz="3600">
                <a:latin typeface="Times New Roman"/>
                <a:ea typeface="+mn-lt"/>
                <a:cs typeface="+mn-lt"/>
              </a:rPr>
              <a:t>Además, el sistema facilitará la gestión del inventario, minimizando pérdidas y asegurando un flujo eficiente de productos. Así, se garantizará la sostenibilidad y el crecimiento en un mercado competitivo. </a:t>
            </a:r>
            <a:endParaRPr lang="es-ES" sz="3600">
              <a:ea typeface="Calibri"/>
              <a:cs typeface="Calibri"/>
            </a:endParaRPr>
          </a:p>
          <a:p>
            <a:endParaRPr lang="es-ES" sz="3200">
              <a:latin typeface="Times New Roman"/>
              <a:cs typeface="Calibri"/>
            </a:endParaRPr>
          </a:p>
          <a:p>
            <a:endParaRPr lang="es-ES" sz="3200">
              <a:latin typeface="Times New Roman"/>
              <a:cs typeface="Calibri"/>
            </a:endParaRPr>
          </a:p>
          <a:p>
            <a:endParaRPr lang="es-ES" sz="3200">
              <a:latin typeface="Times New Roman"/>
              <a:cs typeface="Calibri"/>
            </a:endParaRPr>
          </a:p>
          <a:p>
            <a:endParaRPr lang="es-ES" sz="3600">
              <a:latin typeface="Times New Roman"/>
              <a:cs typeface="Calibri"/>
            </a:endParaRPr>
          </a:p>
          <a:p>
            <a:endParaRPr lang="es-ES" sz="3600">
              <a:latin typeface="Times New Roman"/>
              <a:cs typeface="Calibri"/>
            </a:endParaRPr>
          </a:p>
          <a:p>
            <a:endParaRPr lang="es-ES" sz="3600">
              <a:latin typeface="Times New Roman"/>
              <a:cs typeface="Calibri"/>
            </a:endParaRPr>
          </a:p>
          <a:p>
            <a:endParaRPr lang="en-US">
              <a:latin typeface="Calibri" panose="020F0502020204030204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3631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2.8 Alcance Del Proyecto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92789" y="2107721"/>
            <a:ext cx="11399520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600">
                <a:latin typeface="Times New Roman"/>
                <a:ea typeface="+mn-lt"/>
                <a:cs typeface="+mn-lt"/>
              </a:rPr>
              <a:t>Con el proyecto “Sistema de Gestión de Productos e inventario para la Tienda "El Escondite Animal" “Se planea que la tienda pueda mejorar en sus ventas e información para que tenga su respectivo reconocimiento y mejor manejo de inventario, este proyecto se realizara a nivel local. </a:t>
            </a:r>
            <a:endParaRPr lang="en-US">
              <a:latin typeface="Times New Roman"/>
              <a:cs typeface="Times New Roman"/>
            </a:endParaRPr>
          </a:p>
          <a:p>
            <a:endParaRPr lang="es-ES" sz="3600">
              <a:solidFill>
                <a:srgbClr val="000000"/>
              </a:solidFill>
              <a:latin typeface="Times New Roman"/>
              <a:ea typeface="+mn-lt"/>
              <a:cs typeface="+mn-lt"/>
            </a:endParaRPr>
          </a:p>
          <a:p>
            <a:pPr algn="l"/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744328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2.9 Mapa De Procesos</a:t>
            </a:r>
            <a:endParaRPr lang="en-U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0706A683-CC6E-508B-B708-E4282DD0BE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726" t="20330" r="25424" b="21703"/>
          <a:stretch/>
        </p:blipFill>
        <p:spPr>
          <a:xfrm>
            <a:off x="1768592" y="1479314"/>
            <a:ext cx="8668673" cy="537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962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2.10 BPMN</a:t>
            </a:r>
            <a:endParaRPr lang="es-E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3" name="Imagen 2" descr="Diagrama, Esquemático&#10;&#10;Descripción generada automáticamente">
            <a:extLst>
              <a:ext uri="{FF2B5EF4-FFF2-40B4-BE49-F238E27FC236}">
                <a16:creationId xmlns:a16="http://schemas.microsoft.com/office/drawing/2014/main" id="{76FA4A99-3B69-BF6F-F65A-2E1C9D0AB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50" y="1452926"/>
            <a:ext cx="10054166" cy="5402064"/>
          </a:xfrm>
          <a:prstGeom prst="rect">
            <a:avLst/>
          </a:prstGeom>
        </p:spPr>
      </p:pic>
      <p:sp>
        <p:nvSpPr>
          <p:cNvPr id="7" name="Rectángulo: una sola esquina cortada 6">
            <a:extLst>
              <a:ext uri="{FF2B5EF4-FFF2-40B4-BE49-F238E27FC236}">
                <a16:creationId xmlns:a16="http://schemas.microsoft.com/office/drawing/2014/main" id="{38AA6BF2-27B2-07F7-54A9-A14EA6F62B2F}"/>
              </a:ext>
            </a:extLst>
          </p:cNvPr>
          <p:cNvSpPr/>
          <p:nvPr/>
        </p:nvSpPr>
        <p:spPr>
          <a:xfrm flipH="1">
            <a:off x="10074262" y="3592007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BPMN</a:t>
            </a:r>
            <a:endParaRPr lang="es-ES">
              <a:solidFill>
                <a:srgbClr val="000000"/>
              </a:solidFill>
              <a:ea typeface="Calibri"/>
              <a:cs typeface="Calibri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1336877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cs typeface="Calibri Light"/>
              </a:rPr>
              <a:t>2.11 Técnicas de recolección de información</a:t>
            </a:r>
            <a:endParaRPr lang="es-E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1F4706-DEDD-85FE-9D67-28009574E22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402" t="17358" r="13475" b="-377"/>
          <a:stretch/>
        </p:blipFill>
        <p:spPr>
          <a:xfrm>
            <a:off x="129396" y="1610264"/>
            <a:ext cx="7300274" cy="4974570"/>
          </a:xfrm>
          <a:prstGeom prst="rect">
            <a:avLst/>
          </a:prstGeom>
        </p:spPr>
      </p:pic>
      <p:sp>
        <p:nvSpPr>
          <p:cNvPr id="7" name="Rectángulo: una sola esquina cortada 6">
            <a:extLst>
              <a:ext uri="{FF2B5EF4-FFF2-40B4-BE49-F238E27FC236}">
                <a16:creationId xmlns:a16="http://schemas.microsoft.com/office/drawing/2014/main" id="{32E9FBCE-70F1-47E5-EF26-06B7BF6AA295}"/>
              </a:ext>
            </a:extLst>
          </p:cNvPr>
          <p:cNvSpPr/>
          <p:nvPr/>
        </p:nvSpPr>
        <p:spPr>
          <a:xfrm flipH="1">
            <a:off x="8164775" y="2773074"/>
            <a:ext cx="2631244" cy="94928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ENCUESTA</a:t>
            </a:r>
            <a:endParaRPr lang="es-ES">
              <a:solidFill>
                <a:schemeClr val="tx1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3" name="Rectángulo: una sola esquina cortada 2">
            <a:extLst>
              <a:ext uri="{FF2B5EF4-FFF2-40B4-BE49-F238E27FC236}">
                <a16:creationId xmlns:a16="http://schemas.microsoft.com/office/drawing/2014/main" id="{57C65E2C-DA86-27AD-6F48-6FCEE4F0336F}"/>
              </a:ext>
            </a:extLst>
          </p:cNvPr>
          <p:cNvSpPr/>
          <p:nvPr/>
        </p:nvSpPr>
        <p:spPr>
          <a:xfrm flipH="1">
            <a:off x="8423569" y="4095790"/>
            <a:ext cx="2631244" cy="94928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INFORME ENCUESTA</a:t>
            </a:r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0745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/>
          <a:lstStyle/>
          <a:p>
            <a:r>
              <a:rPr lang="es-CO" sz="4300">
                <a:solidFill>
                  <a:srgbClr val="FFF5EA"/>
                </a:solidFill>
                <a:latin typeface="Times New Roman"/>
                <a:ea typeface="Calibri Light"/>
                <a:cs typeface="Times New Roman"/>
              </a:rPr>
              <a:t>Técnicas de recolección de información</a:t>
            </a:r>
            <a:endParaRPr lang="es-CO" sz="4300">
              <a:solidFill>
                <a:srgbClr val="000000"/>
              </a:solidFill>
              <a:latin typeface="Times New Roman"/>
              <a:ea typeface="Calibri Light"/>
              <a:cs typeface="Times New Roman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Calibri Light"/>
              <a:cs typeface="Calibri Ligh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4" name="Imagen 3" descr="Texto&#10;&#10;Descripción generada automáticamente">
            <a:extLst>
              <a:ext uri="{FF2B5EF4-FFF2-40B4-BE49-F238E27FC236}">
                <a16:creationId xmlns:a16="http://schemas.microsoft.com/office/drawing/2014/main" id="{B0E3A9FD-53A1-7FD0-40F3-CE9B05902F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94" t="5491" r="5466"/>
          <a:stretch/>
        </p:blipFill>
        <p:spPr>
          <a:xfrm>
            <a:off x="1776350" y="1526303"/>
            <a:ext cx="5595237" cy="5326600"/>
          </a:xfrm>
          <a:prstGeom prst="rect">
            <a:avLst/>
          </a:prstGeom>
        </p:spPr>
      </p:pic>
      <p:sp>
        <p:nvSpPr>
          <p:cNvPr id="9" name="Rectángulo: una sola esquina cortada 8">
            <a:extLst>
              <a:ext uri="{FF2B5EF4-FFF2-40B4-BE49-F238E27FC236}">
                <a16:creationId xmlns:a16="http://schemas.microsoft.com/office/drawing/2014/main" id="{FD366A2E-B09A-026F-A148-CC8F8118D261}"/>
              </a:ext>
            </a:extLst>
          </p:cNvPr>
          <p:cNvSpPr/>
          <p:nvPr/>
        </p:nvSpPr>
        <p:spPr>
          <a:xfrm flipH="1">
            <a:off x="7963303" y="3578584"/>
            <a:ext cx="2719401" cy="1094382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ENTREVISTA</a:t>
            </a:r>
          </a:p>
        </p:txBody>
      </p:sp>
    </p:spTree>
    <p:extLst>
      <p:ext uri="{BB962C8B-B14F-4D97-AF65-F5344CB8AC3E}">
        <p14:creationId xmlns:p14="http://schemas.microsoft.com/office/powerpoint/2010/main" val="2155272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2.12 Requerimientos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B1AF319-DE68-4E10-1EBD-941472E950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74202"/>
              </p:ext>
            </p:extLst>
          </p:nvPr>
        </p:nvGraphicFramePr>
        <p:xfrm>
          <a:off x="533142" y="1732148"/>
          <a:ext cx="5026904" cy="3992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452">
                  <a:extLst>
                    <a:ext uri="{9D8B030D-6E8A-4147-A177-3AD203B41FA5}">
                      <a16:colId xmlns:a16="http://schemas.microsoft.com/office/drawing/2014/main" val="3262424264"/>
                    </a:ext>
                  </a:extLst>
                </a:gridCol>
                <a:gridCol w="2513452">
                  <a:extLst>
                    <a:ext uri="{9D8B030D-6E8A-4147-A177-3AD203B41FA5}">
                      <a16:colId xmlns:a16="http://schemas.microsoft.com/office/drawing/2014/main" val="4166948318"/>
                    </a:ext>
                  </a:extLst>
                </a:gridCol>
              </a:tblGrid>
              <a:tr h="342347">
                <a:tc>
                  <a:txBody>
                    <a:bodyPr/>
                    <a:lstStyle/>
                    <a:p>
                      <a:r>
                        <a:rPr lang="es-ES" sz="1400" b="1" i="0" u="none" strike="noStrike" kern="120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RF01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Ingresar al aplicativo.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646421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RF02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Registrar Usuario.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040201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RF03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Iniciar Sesión.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448365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RF04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Ingresar Comentarios.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911967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RF05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Restablecer contraseña.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82170"/>
                  </a:ext>
                </a:extLst>
              </a:tr>
              <a:tr h="46488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Cerrar sesión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173151"/>
                  </a:ext>
                </a:extLst>
              </a:tr>
              <a:tr h="4648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 descripción del producto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260943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Buscar productos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1394"/>
                  </a:ext>
                </a:extLst>
              </a:tr>
              <a:tr h="4648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 productos.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147257"/>
                  </a:ext>
                </a:extLst>
              </a:tr>
            </a:tbl>
          </a:graphicData>
        </a:graphic>
      </p:graphicFrame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1935534" y="5895515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Requerimientos Funcionales</a:t>
            </a: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878D3B2F-56A4-92AA-FBF1-7B9FA9AEA2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7767185"/>
              </p:ext>
            </p:extLst>
          </p:nvPr>
        </p:nvGraphicFramePr>
        <p:xfrm>
          <a:off x="5819003" y="1716781"/>
          <a:ext cx="5396958" cy="4444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8479">
                  <a:extLst>
                    <a:ext uri="{9D8B030D-6E8A-4147-A177-3AD203B41FA5}">
                      <a16:colId xmlns:a16="http://schemas.microsoft.com/office/drawing/2014/main" val="3262424264"/>
                    </a:ext>
                  </a:extLst>
                </a:gridCol>
                <a:gridCol w="2698479">
                  <a:extLst>
                    <a:ext uri="{9D8B030D-6E8A-4147-A177-3AD203B41FA5}">
                      <a16:colId xmlns:a16="http://schemas.microsoft.com/office/drawing/2014/main" val="4166948318"/>
                    </a:ext>
                  </a:extLst>
                </a:gridCol>
              </a:tblGrid>
              <a:tr h="512618">
                <a:tc>
                  <a:txBody>
                    <a:bodyPr/>
                    <a:lstStyle/>
                    <a:p>
                      <a:r>
                        <a:rPr lang="es-ES" sz="1400" b="1">
                          <a:solidFill>
                            <a:schemeClr val="tx1"/>
                          </a:solidFill>
                        </a:rPr>
                        <a:t>RF10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 carro de compras.</a:t>
                      </a:r>
                      <a:endParaRPr lang="es-ES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646421"/>
                  </a:ext>
                </a:extLst>
              </a:tr>
              <a:tr h="1712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RF11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Realizar proceso de compra.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040201"/>
                  </a:ext>
                </a:extLst>
              </a:tr>
              <a:tr h="1712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RF12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baseline="0" noProof="0">
                          <a:solidFill>
                            <a:srgbClr val="000000"/>
                          </a:solidFill>
                          <a:latin typeface="Arial"/>
                        </a:rPr>
                        <a:t>Modificar productos del carro de compras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448365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RF13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baseline="0" noProof="0">
                          <a:solidFill>
                            <a:srgbClr val="000000"/>
                          </a:solidFill>
                          <a:latin typeface="Arial"/>
                        </a:rPr>
                        <a:t>Agregar productos al carro de compras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911967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RF14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Eliminar productos del carro de compras 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82170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RF15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Eliminar producto del inventario.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601561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RF16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Agregar producto del inventario.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057529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RF17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Modificar producto del inventario.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565483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RF18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 comentarios del usuario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7068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21231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Requerimientos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3" name="Imagen 2" descr="Tabla&#10;&#10;Descripción generada automáticamente">
            <a:extLst>
              <a:ext uri="{FF2B5EF4-FFF2-40B4-BE49-F238E27FC236}">
                <a16:creationId xmlns:a16="http://schemas.microsoft.com/office/drawing/2014/main" id="{69961254-5311-9B6D-0DB1-B6CEBABF51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2338" r="-213" b="3089"/>
          <a:stretch/>
        </p:blipFill>
        <p:spPr>
          <a:xfrm>
            <a:off x="879231" y="1444232"/>
            <a:ext cx="10219140" cy="5312096"/>
          </a:xfrm>
          <a:prstGeom prst="rect">
            <a:avLst/>
          </a:prstGeom>
        </p:spPr>
      </p:pic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9202667" y="5892434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Requerimientos Funcionales</a:t>
            </a:r>
          </a:p>
        </p:txBody>
      </p:sp>
    </p:spTree>
    <p:extLst>
      <p:ext uri="{BB962C8B-B14F-4D97-AF65-F5344CB8AC3E}">
        <p14:creationId xmlns:p14="http://schemas.microsoft.com/office/powerpoint/2010/main" val="2363099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2.13 Requerimientos No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8628971" y="5832328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Requerimientos No Funcionales</a:t>
            </a:r>
            <a:endParaRPr lang="es-ES">
              <a:solidFill>
                <a:srgbClr val="000000"/>
              </a:solidFill>
              <a:ea typeface="Calibri"/>
              <a:cs typeface="Calibri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43B958A6-44F1-F351-749C-FEBC2F4E56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221537"/>
              </p:ext>
            </p:extLst>
          </p:nvPr>
        </p:nvGraphicFramePr>
        <p:xfrm>
          <a:off x="2677583" y="2603500"/>
          <a:ext cx="7353692" cy="2205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6846">
                  <a:extLst>
                    <a:ext uri="{9D8B030D-6E8A-4147-A177-3AD203B41FA5}">
                      <a16:colId xmlns:a16="http://schemas.microsoft.com/office/drawing/2014/main" val="3286033799"/>
                    </a:ext>
                  </a:extLst>
                </a:gridCol>
                <a:gridCol w="3676846">
                  <a:extLst>
                    <a:ext uri="{9D8B030D-6E8A-4147-A177-3AD203B41FA5}">
                      <a16:colId xmlns:a16="http://schemas.microsoft.com/office/drawing/2014/main" val="684576206"/>
                    </a:ext>
                  </a:extLst>
                </a:gridCol>
              </a:tblGrid>
              <a:tr h="49741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RNF01</a:t>
                      </a:r>
                      <a:endParaRPr lang="es-ES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Interfaz del sistema.</a:t>
                      </a:r>
                      <a:endParaRPr lang="es-ES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000547"/>
                  </a:ext>
                </a:extLst>
              </a:tr>
              <a:tr h="569283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RNF02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Ayuda en el uso del sistema.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7629"/>
                  </a:ext>
                </a:extLst>
              </a:tr>
              <a:tr h="5692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RNF03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Mantenimiento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3858003"/>
                  </a:ext>
                </a:extLst>
              </a:tr>
              <a:tr h="5692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RNF04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Usabilidad.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33875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7189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exto&#10;&#10;Descripción generada automáticamente">
            <a:extLst>
              <a:ext uri="{FF2B5EF4-FFF2-40B4-BE49-F238E27FC236}">
                <a16:creationId xmlns:a16="http://schemas.microsoft.com/office/drawing/2014/main" id="{A2834864-4114-92EC-A2EB-12ABE05EEF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04" t="2989" r="2614" b="1902"/>
          <a:stretch/>
        </p:blipFill>
        <p:spPr>
          <a:xfrm>
            <a:off x="1842841" y="1534701"/>
            <a:ext cx="8291167" cy="5028762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Requerimientos No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10290554" y="5800578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Requerimientos No Funcionales</a:t>
            </a:r>
            <a:endParaRPr lang="es-ES">
              <a:solidFill>
                <a:srgbClr val="000000"/>
              </a:solidFill>
              <a:ea typeface="Calibri"/>
              <a:cs typeface="Calibri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22480216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5FEF5540-4FFB-02C1-F1A1-A77DAE528207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2.14 Mapa mental de la página web</a:t>
            </a:r>
          </a:p>
        </p:txBody>
      </p:sp>
      <p:sp>
        <p:nvSpPr>
          <p:cNvPr id="12" name="Rectángulo: una sola esquina cortada 11">
            <a:extLst>
              <a:ext uri="{FF2B5EF4-FFF2-40B4-BE49-F238E27FC236}">
                <a16:creationId xmlns:a16="http://schemas.microsoft.com/office/drawing/2014/main" id="{25AF714F-9D9F-6F81-9E98-B4C093C51190}"/>
              </a:ext>
            </a:extLst>
          </p:cNvPr>
          <p:cNvSpPr/>
          <p:nvPr/>
        </p:nvSpPr>
        <p:spPr>
          <a:xfrm flipH="1">
            <a:off x="10499961" y="6175399"/>
            <a:ext cx="1405954" cy="593067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MAPA MENTAL</a:t>
            </a:r>
            <a:endParaRPr lang="es-ES">
              <a:solidFill>
                <a:srgbClr val="000000"/>
              </a:solidFill>
              <a:cs typeface="Calibri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" name="Imagen 1" descr="Diagrama&#10;&#10;Descripción generada automáticamente">
            <a:extLst>
              <a:ext uri="{FF2B5EF4-FFF2-40B4-BE49-F238E27FC236}">
                <a16:creationId xmlns:a16="http://schemas.microsoft.com/office/drawing/2014/main" id="{8BA33C52-61AC-BF4E-4F37-C56C1F09B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36763"/>
            <a:ext cx="12192000" cy="361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82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4462221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 dirty="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2.15 Mockups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AD0CF74-A180-2FF1-B238-A62803B03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424" y="1502228"/>
            <a:ext cx="5793645" cy="5354665"/>
          </a:xfrm>
          <a:prstGeom prst="rect">
            <a:avLst/>
          </a:prstGeom>
        </p:spPr>
      </p:pic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CE2D2715-44C6-66F2-620C-84827DA3D392}"/>
              </a:ext>
            </a:extLst>
          </p:cNvPr>
          <p:cNvSpPr/>
          <p:nvPr/>
        </p:nvSpPr>
        <p:spPr>
          <a:xfrm flipH="1">
            <a:off x="2519032" y="3431130"/>
            <a:ext cx="2039973" cy="1249495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Mockups</a:t>
            </a:r>
            <a:endParaRPr lang="es-ES">
              <a:solidFill>
                <a:schemeClr val="tx1"/>
              </a:solidFill>
              <a:cs typeface="Calibri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37267474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2.16 Ficha Técnica</a:t>
            </a:r>
          </a:p>
        </p:txBody>
      </p:sp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EAF8A78D-7075-BAAA-6594-8C2EB97E1642}"/>
              </a:ext>
            </a:extLst>
          </p:cNvPr>
          <p:cNvSpPr/>
          <p:nvPr/>
        </p:nvSpPr>
        <p:spPr>
          <a:xfrm flipH="1">
            <a:off x="441675" y="5515744"/>
            <a:ext cx="1408602" cy="629010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ACB92CF-A0D5-EA72-2B5F-A156C587F8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808" y="1481890"/>
            <a:ext cx="6300016" cy="510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6790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2.17 Propuesta Técnica</a:t>
            </a:r>
          </a:p>
        </p:txBody>
      </p:sp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EAF8A78D-7075-BAAA-6594-8C2EB97E1642}"/>
              </a:ext>
            </a:extLst>
          </p:cNvPr>
          <p:cNvSpPr/>
          <p:nvPr/>
        </p:nvSpPr>
        <p:spPr>
          <a:xfrm flipH="1">
            <a:off x="441675" y="5515744"/>
            <a:ext cx="1408602" cy="629010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Propuesta</a:t>
            </a:r>
          </a:p>
        </p:txBody>
      </p:sp>
      <p:pic>
        <p:nvPicPr>
          <p:cNvPr id="2" name="Imagen 1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923D30DD-12C5-EF06-0D98-37671B736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33" y="1625600"/>
            <a:ext cx="6380501" cy="509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72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2.18 Diagrama Casos de Uso</a:t>
            </a:r>
          </a:p>
        </p:txBody>
      </p:sp>
      <p:sp>
        <p:nvSpPr>
          <p:cNvPr id="7" name="Rectángulo: una sola esquina cortada 6">
            <a:extLst>
              <a:ext uri="{FF2B5EF4-FFF2-40B4-BE49-F238E27FC236}">
                <a16:creationId xmlns:a16="http://schemas.microsoft.com/office/drawing/2014/main" id="{ABE02CEB-72A0-6F40-9EA0-77BDE05D4C01}"/>
              </a:ext>
            </a:extLst>
          </p:cNvPr>
          <p:cNvSpPr/>
          <p:nvPr/>
        </p:nvSpPr>
        <p:spPr>
          <a:xfrm flipH="1">
            <a:off x="10062433" y="3421890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Diagrama</a:t>
            </a:r>
            <a:endParaRPr lang="es-ES">
              <a:solidFill>
                <a:schemeClr val="tx1"/>
              </a:solidFill>
            </a:endParaRPr>
          </a:p>
        </p:txBody>
      </p:sp>
      <p:pic>
        <p:nvPicPr>
          <p:cNvPr id="2" name="Imagen 1" descr="Diagrama&#10;&#10;Descripción generada automáticamente">
            <a:extLst>
              <a:ext uri="{FF2B5EF4-FFF2-40B4-BE49-F238E27FC236}">
                <a16:creationId xmlns:a16="http://schemas.microsoft.com/office/drawing/2014/main" id="{9376AD08-A344-22D6-577E-E7DFEA75C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220" y="1514639"/>
            <a:ext cx="7825648" cy="5098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17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2.19 Especificación Casos de Uso</a:t>
            </a:r>
          </a:p>
        </p:txBody>
      </p:sp>
      <p:pic>
        <p:nvPicPr>
          <p:cNvPr id="3" name="Imagen 2" descr="Tabla&#10;&#10;Descripción generada automáticamente">
            <a:extLst>
              <a:ext uri="{FF2B5EF4-FFF2-40B4-BE49-F238E27FC236}">
                <a16:creationId xmlns:a16="http://schemas.microsoft.com/office/drawing/2014/main" id="{B6606393-4810-592B-DC87-16349B553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017" y="1811254"/>
            <a:ext cx="6263940" cy="4508834"/>
          </a:xfrm>
          <a:prstGeom prst="rect">
            <a:avLst/>
          </a:prstGeom>
        </p:spPr>
      </p:pic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FD3633D4-D05F-056A-8835-16EAA3F1BE58}"/>
              </a:ext>
            </a:extLst>
          </p:cNvPr>
          <p:cNvSpPr/>
          <p:nvPr/>
        </p:nvSpPr>
        <p:spPr>
          <a:xfrm flipH="1">
            <a:off x="10420087" y="5702344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Especificación</a:t>
            </a:r>
          </a:p>
        </p:txBody>
      </p:sp>
    </p:spTree>
    <p:extLst>
      <p:ext uri="{BB962C8B-B14F-4D97-AF65-F5344CB8AC3E}">
        <p14:creationId xmlns:p14="http://schemas.microsoft.com/office/powerpoint/2010/main" val="3024894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2.20 Modelo Entidad Relación</a:t>
            </a:r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AA7828E5-A44A-513C-0B07-C7463FBE1540}"/>
              </a:ext>
            </a:extLst>
          </p:cNvPr>
          <p:cNvSpPr/>
          <p:nvPr/>
        </p:nvSpPr>
        <p:spPr>
          <a:xfrm flipH="1">
            <a:off x="10420087" y="5692318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</a:t>
            </a:r>
          </a:p>
        </p:txBody>
      </p:sp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0EF7649E-1B4C-EAEC-02BA-4BA5E256D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957" y="1492250"/>
            <a:ext cx="7461251" cy="528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435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2.21 Modelo Relacional</a:t>
            </a:r>
          </a:p>
        </p:txBody>
      </p:sp>
      <p:pic>
        <p:nvPicPr>
          <p:cNvPr id="2" name="Imagen 1" descr="Diagrama&#10;&#10;Descripción generada automáticamente">
            <a:extLst>
              <a:ext uri="{FF2B5EF4-FFF2-40B4-BE49-F238E27FC236}">
                <a16:creationId xmlns:a16="http://schemas.microsoft.com/office/drawing/2014/main" id="{D0EDB8E8-02B7-6F58-14A2-B1175D481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0650"/>
            <a:ext cx="12191999" cy="5057367"/>
          </a:xfrm>
          <a:prstGeom prst="rect">
            <a:avLst/>
          </a:prstGeom>
        </p:spPr>
      </p:pic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F883D14F-72FF-9253-E7B2-1E0C63886398}"/>
              </a:ext>
            </a:extLst>
          </p:cNvPr>
          <p:cNvSpPr/>
          <p:nvPr/>
        </p:nvSpPr>
        <p:spPr>
          <a:xfrm flipH="1">
            <a:off x="10456373" y="5756773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M. Relacional</a:t>
            </a:r>
          </a:p>
        </p:txBody>
      </p:sp>
    </p:spTree>
    <p:extLst>
      <p:ext uri="{BB962C8B-B14F-4D97-AF65-F5344CB8AC3E}">
        <p14:creationId xmlns:p14="http://schemas.microsoft.com/office/powerpoint/2010/main" val="41619019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2.22 Normalización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684535-2AE5-CFCC-31AD-FA5D87D90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511" y="1547777"/>
            <a:ext cx="10007600" cy="4867604"/>
          </a:xfrm>
          <a:prstGeom prst="rect">
            <a:avLst/>
          </a:prstGeom>
        </p:spPr>
      </p:pic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AA74747F-2307-43A4-AAC8-CD7CB01A805A}"/>
              </a:ext>
            </a:extLst>
          </p:cNvPr>
          <p:cNvSpPr/>
          <p:nvPr/>
        </p:nvSpPr>
        <p:spPr>
          <a:xfrm flipH="1">
            <a:off x="10071744" y="2567258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Normalización</a:t>
            </a:r>
          </a:p>
        </p:txBody>
      </p:sp>
    </p:spTree>
    <p:extLst>
      <p:ext uri="{BB962C8B-B14F-4D97-AF65-F5344CB8AC3E}">
        <p14:creationId xmlns:p14="http://schemas.microsoft.com/office/powerpoint/2010/main" val="2953786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2.23 Base de datos</a:t>
            </a:r>
          </a:p>
        </p:txBody>
      </p:sp>
      <p:pic>
        <p:nvPicPr>
          <p:cNvPr id="3" name="Imagen 2" descr="Interfaz de usuario gráfica, Texto, Aplicación, Correo electrónico&#10;&#10;Descripción generada automáticamente">
            <a:extLst>
              <a:ext uri="{FF2B5EF4-FFF2-40B4-BE49-F238E27FC236}">
                <a16:creationId xmlns:a16="http://schemas.microsoft.com/office/drawing/2014/main" id="{6F1B1EE0-6CE8-7963-1720-F10623C324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622" t="25000" r="14210" b="28195"/>
          <a:stretch/>
        </p:blipFill>
        <p:spPr>
          <a:xfrm>
            <a:off x="132080" y="1927186"/>
            <a:ext cx="11923455" cy="372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170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2.24 Diccionario Base de Datos</a:t>
            </a:r>
          </a:p>
        </p:txBody>
      </p:sp>
      <p:sp>
        <p:nvSpPr>
          <p:cNvPr id="3" name="Rectángulo: una sola esquina cortada 2">
            <a:extLst>
              <a:ext uri="{FF2B5EF4-FFF2-40B4-BE49-F238E27FC236}">
                <a16:creationId xmlns:a16="http://schemas.microsoft.com/office/drawing/2014/main" id="{E0869B8E-BA53-9792-51AF-4D3503135AFF}"/>
              </a:ext>
            </a:extLst>
          </p:cNvPr>
          <p:cNvSpPr/>
          <p:nvPr/>
        </p:nvSpPr>
        <p:spPr>
          <a:xfrm flipH="1">
            <a:off x="10456373" y="5756773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Diccionario</a:t>
            </a:r>
          </a:p>
        </p:txBody>
      </p:sp>
      <p:pic>
        <p:nvPicPr>
          <p:cNvPr id="2" name="Imagen 1" descr="Tabla&#10;&#10;Descripción generada automáticamente">
            <a:extLst>
              <a:ext uri="{FF2B5EF4-FFF2-40B4-BE49-F238E27FC236}">
                <a16:creationId xmlns:a16="http://schemas.microsoft.com/office/drawing/2014/main" id="{1E92E82B-C9BD-5CC7-0734-BC460D9E1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" y="1531128"/>
            <a:ext cx="10261600" cy="4659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5334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2.25 Diagrama de Clases UML</a:t>
            </a:r>
            <a:endParaRPr lang="es-ES"/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FD3633D4-D05F-056A-8835-16EAA3F1BE58}"/>
              </a:ext>
            </a:extLst>
          </p:cNvPr>
          <p:cNvSpPr/>
          <p:nvPr/>
        </p:nvSpPr>
        <p:spPr>
          <a:xfrm flipH="1">
            <a:off x="10420087" y="5702344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  <a:ea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Clases</a:t>
            </a:r>
          </a:p>
        </p:txBody>
      </p:sp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10B29C3C-6864-B093-EACE-B5E897A58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777" y="1589314"/>
            <a:ext cx="6769158" cy="512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3957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2.26 Diagrama de Despliegue </a:t>
            </a:r>
            <a:endParaRPr lang="es-ES">
              <a:solidFill>
                <a:srgbClr val="000000"/>
              </a:solidFill>
              <a:latin typeface="Times New Roman"/>
              <a:ea typeface="+mj-lt"/>
              <a:cs typeface="+mj-lt"/>
            </a:endParaRPr>
          </a:p>
        </p:txBody>
      </p:sp>
      <p:pic>
        <p:nvPicPr>
          <p:cNvPr id="5" name="Imagen 4" descr="Diagrama&#10;&#10;Descripción generada automáticamente">
            <a:extLst>
              <a:ext uri="{FF2B5EF4-FFF2-40B4-BE49-F238E27FC236}">
                <a16:creationId xmlns:a16="http://schemas.microsoft.com/office/drawing/2014/main" id="{2F30E8E7-4395-D117-2ED4-8DCD3F02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478" y="1718702"/>
            <a:ext cx="10315575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9375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2.28 Mockups Navegable</a:t>
            </a:r>
          </a:p>
        </p:txBody>
      </p:sp>
    </p:spTree>
    <p:extLst>
      <p:ext uri="{BB962C8B-B14F-4D97-AF65-F5344CB8AC3E}">
        <p14:creationId xmlns:p14="http://schemas.microsoft.com/office/powerpoint/2010/main" val="4033148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2.29 Repositorio</a:t>
            </a:r>
          </a:p>
        </p:txBody>
      </p:sp>
      <p:pic>
        <p:nvPicPr>
          <p:cNvPr id="3" name="Imagen 2" descr="Interfaz de usuario gráfica, Texto, Aplicación, Correo electrónico&#10;&#10;Descripción generada automáticamente">
            <a:extLst>
              <a:ext uri="{FF2B5EF4-FFF2-40B4-BE49-F238E27FC236}">
                <a16:creationId xmlns:a16="http://schemas.microsoft.com/office/drawing/2014/main" id="{46470A32-6E27-6088-ECF9-BFE4BB3C02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91" t="1354" r="21581" b="32995"/>
          <a:stretch/>
        </p:blipFill>
        <p:spPr>
          <a:xfrm>
            <a:off x="992605" y="1857397"/>
            <a:ext cx="9730046" cy="4869486"/>
          </a:xfrm>
          <a:prstGeom prst="rect">
            <a:avLst/>
          </a:prstGeom>
        </p:spPr>
      </p:pic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EAF8A78D-7075-BAAA-6594-8C2EB97E1642}"/>
              </a:ext>
            </a:extLst>
          </p:cNvPr>
          <p:cNvSpPr/>
          <p:nvPr/>
        </p:nvSpPr>
        <p:spPr>
          <a:xfrm flipH="1">
            <a:off x="1103412" y="6067191"/>
            <a:ext cx="1408602" cy="629010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Repositorio</a:t>
            </a:r>
          </a:p>
        </p:txBody>
      </p:sp>
    </p:spTree>
    <p:extLst>
      <p:ext uri="{BB962C8B-B14F-4D97-AF65-F5344CB8AC3E}">
        <p14:creationId xmlns:p14="http://schemas.microsoft.com/office/powerpoint/2010/main" val="18392435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42</Slides>
  <Notes>9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42</vt:i4>
      </vt:variant>
    </vt:vector>
  </HeadingPairs>
  <TitlesOfParts>
    <vt:vector size="43" baseType="lpstr">
      <vt:lpstr>Tema de Office</vt:lpstr>
      <vt:lpstr>Presentación de PowerPoint</vt:lpstr>
      <vt:lpstr>Tabla De Contenido </vt:lpstr>
      <vt:lpstr>Tabla De Contenido </vt:lpstr>
      <vt:lpstr>Presentación de PowerPoint</vt:lpstr>
      <vt:lpstr>1.1 Nombre de la empresa</vt:lpstr>
      <vt:lpstr>1.2 Misión y visión.</vt:lpstr>
      <vt:lpstr>1.3 Logo.</vt:lpstr>
      <vt:lpstr>1.4 Eslogan.</vt:lpstr>
      <vt:lpstr>Presentación de PowerPoint</vt:lpstr>
      <vt:lpstr>  2.1 Cliente</vt:lpstr>
      <vt:lpstr>  2.2 Nombre del proyecto</vt:lpstr>
      <vt:lpstr>  2.3. Objetivo General  </vt:lpstr>
      <vt:lpstr> 2.4 Objetivos Específicos </vt:lpstr>
      <vt:lpstr> 2.4 Objetivos Específicos </vt:lpstr>
      <vt:lpstr>2.5. Planteamiento Del Problema</vt:lpstr>
      <vt:lpstr> 2.6. Pregunta Problema </vt:lpstr>
      <vt:lpstr>2.7. Justificación  </vt:lpstr>
      <vt:lpstr>2.8 Alcance Del Proyecto </vt:lpstr>
      <vt:lpstr>2.9 Mapa De Procesos  </vt:lpstr>
      <vt:lpstr>2.10 BPMN  </vt:lpstr>
      <vt:lpstr>2.11 Técnicas de recolección de información  </vt:lpstr>
      <vt:lpstr>Técnicas de recolección de información  </vt:lpstr>
      <vt:lpstr>2.12 Requerimientos Funcionales  </vt:lpstr>
      <vt:lpstr>Requerimientos Funcionales  </vt:lpstr>
      <vt:lpstr>2.13 Requerimientos No Funcionales  </vt:lpstr>
      <vt:lpstr>Requerimientos No Funcionales 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revision>40</cp:revision>
  <dcterms:created xsi:type="dcterms:W3CDTF">2020-10-01T23:51:28Z</dcterms:created>
  <dcterms:modified xsi:type="dcterms:W3CDTF">2024-09-09T15:44:57Z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